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</p:sldIdLst>
  <p:sldSz cx="8229600" cy="109728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C233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47548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900" b="0" i="0" spc="220">
                <a:solidFill>
                  <a:srgbClr val="93A9BC"/>
                </a:solidFill>
                <a:latin typeface="Arial"/>
                <a:ea typeface="微软雅黑"/>
              </a:rPr>
              <a:t>TALKTALLY · VOICE-FIRST LEDGER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114800" y="457200"/>
            <a:ext cx="3657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900" b="0" i="0" spc="220">
                <a:solidFill>
                  <a:srgbClr val="93A9BC"/>
                </a:solidFill>
                <a:latin typeface="Arial"/>
                <a:ea typeface="微软雅黑"/>
              </a:rPr>
              <a:t>MVP V1.0 · 2026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868680"/>
            <a:ext cx="7315200" cy="9525"/>
          </a:xfrm>
          <a:prstGeom prst="rect">
            <a:avLst/>
          </a:prstGeom>
          <a:solidFill>
            <a:srgbClr val="2E537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1097280"/>
            <a:ext cx="7315200" cy="1600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9400" b="1" i="0">
                <a:solidFill>
                  <a:srgbClr val="FFFFFF"/>
                </a:solidFill>
                <a:latin typeface="Arial Black"/>
                <a:ea typeface="微软雅黑"/>
              </a:rPr>
              <a:t>LOGGED</a:t>
            </a:r>
            <a:r>
              <a:rPr sz="9400" b="1" i="0">
                <a:solidFill>
                  <a:srgbClr val="F26B21"/>
                </a:solidFill>
                <a:latin typeface="Arial Black"/>
                <a:ea typeface="微软雅黑"/>
              </a:rPr>
              <a:t>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2560320"/>
            <a:ext cx="7315200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2700" b="1" i="0">
                <a:solidFill>
                  <a:srgbClr val="FFFFFF"/>
                </a:solidFill>
                <a:latin typeface="Arial"/>
                <a:ea typeface="微软雅黑"/>
              </a:rPr>
              <a:t>语音记账产品手册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3044952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000" b="0" i="0" spc="240">
                <a:solidFill>
                  <a:srgbClr val="93A9BC"/>
                </a:solidFill>
                <a:latin typeface="Arial"/>
                <a:ea typeface="微软雅黑"/>
              </a:rPr>
              <a:t>A VOICE-FIRST EXPENSE LEDGER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3438144"/>
            <a:ext cx="73152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500" b="0" i="0">
                <a:solidFill>
                  <a:srgbClr val="FFFFFF"/>
                </a:solidFill>
                <a:latin typeface="Arial"/>
                <a:ea typeface="微软雅黑"/>
              </a:rPr>
              <a:t>从说出口，到心里有数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3785615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000" b="0" i="0">
                <a:solidFill>
                  <a:srgbClr val="93A9BC"/>
                </a:solidFill>
                <a:latin typeface="Arial"/>
                <a:ea typeface="微软雅黑"/>
              </a:rPr>
              <a:t>From spoken words to a clear ledger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2606040" y="4160520"/>
            <a:ext cx="3017520" cy="4160520"/>
          </a:xfrm>
          <a:prstGeom prst="roundRect">
            <a:avLst>
              <a:gd name="adj" fmla="val 10000"/>
            </a:avLst>
          </a:prstGeom>
          <a:solidFill>
            <a:srgbClr val="16334C"/>
          </a:solidFill>
          <a:ln w="12700">
            <a:solidFill>
              <a:srgbClr val="2E537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2788920" y="4434840"/>
            <a:ext cx="2651760" cy="566928"/>
          </a:xfrm>
          <a:prstGeom prst="roundRect">
            <a:avLst>
              <a:gd name="adj" fmla="val 50000"/>
            </a:avLst>
          </a:prstGeom>
          <a:solidFill>
            <a:srgbClr val="1E446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2907792" y="4636008"/>
            <a:ext cx="91440" cy="91440"/>
          </a:xfrm>
          <a:prstGeom prst="ellipse">
            <a:avLst/>
          </a:prstGeom>
          <a:solidFill>
            <a:srgbClr val="F26B2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3108960" y="4544568"/>
            <a:ext cx="2148839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150" b="1" i="0">
                <a:solidFill>
                  <a:srgbClr val="FFFFFF"/>
                </a:solidFill>
                <a:latin typeface="Arial"/>
                <a:ea typeface="微软雅黑"/>
              </a:rPr>
              <a:t>买水 5 块，支付宝</a:t>
            </a:r>
          </a:p>
        </p:txBody>
      </p:sp>
      <p:sp>
        <p:nvSpPr>
          <p:cNvPr id="14" name="Rectangle 13"/>
          <p:cNvSpPr/>
          <p:nvPr/>
        </p:nvSpPr>
        <p:spPr>
          <a:xfrm>
            <a:off x="3172968" y="5513832"/>
            <a:ext cx="41148" cy="128016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3364992" y="5404104"/>
            <a:ext cx="41148" cy="237744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3557016" y="5294376"/>
            <a:ext cx="41148" cy="347472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3749040" y="5458968"/>
            <a:ext cx="41148" cy="18288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3941064" y="5221224"/>
            <a:ext cx="41148" cy="420624"/>
          </a:xfrm>
          <a:prstGeom prst="rect">
            <a:avLst/>
          </a:prstGeom>
          <a:solidFill>
            <a:srgbClr val="F26B2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4133088" y="5367528"/>
            <a:ext cx="41148" cy="27432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4325112" y="5184648"/>
            <a:ext cx="41148" cy="4572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4517136" y="5440680"/>
            <a:ext cx="41148" cy="201168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4709160" y="5312664"/>
            <a:ext cx="41148" cy="329184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4901184" y="5495544"/>
            <a:ext cx="41148" cy="146304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ounded Rectangle 23"/>
          <p:cNvSpPr/>
          <p:nvPr/>
        </p:nvSpPr>
        <p:spPr>
          <a:xfrm>
            <a:off x="3108960" y="5852160"/>
            <a:ext cx="2011679" cy="475488"/>
          </a:xfrm>
          <a:prstGeom prst="roundRect">
            <a:avLst>
              <a:gd name="adj" fmla="val 50000"/>
            </a:avLst>
          </a:prstGeom>
          <a:solidFill>
            <a:srgbClr val="F26B2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3108960" y="5961888"/>
            <a:ext cx="2011679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Arial"/>
                <a:ea typeface="微软雅黑"/>
              </a:rPr>
              <a:t>按住说话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2816352" y="6492240"/>
            <a:ext cx="2596896" cy="1572768"/>
          </a:xfrm>
          <a:prstGeom prst="roundRect">
            <a:avLst>
              <a:gd name="adj" fmla="val 9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2999232" y="6638544"/>
            <a:ext cx="2231136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400" b="1" i="0">
                <a:solidFill>
                  <a:srgbClr val="0C2333"/>
                </a:solidFill>
                <a:latin typeface="Arial"/>
                <a:ea typeface="微软雅黑"/>
              </a:rPr>
              <a:t>便利店</a:t>
            </a:r>
            <a:r>
              <a:rPr sz="1400" b="1" i="0">
                <a:solidFill>
                  <a:srgbClr val="F26B21"/>
                </a:solidFill>
                <a:latin typeface="Arial"/>
                <a:ea typeface="微软雅黑"/>
              </a:rPr>
              <a:t>   ¥5.00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2999232" y="7004304"/>
            <a:ext cx="2231136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950" b="0" i="0">
                <a:solidFill>
                  <a:srgbClr val="5A6B7A"/>
                </a:solidFill>
                <a:latin typeface="Arial"/>
                <a:ea typeface="微软雅黑"/>
              </a:rPr>
              <a:t>餐饮 · 支付宝 · 今天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2999232" y="7333488"/>
            <a:ext cx="786384" cy="256032"/>
          </a:xfrm>
          <a:prstGeom prst="roundRect">
            <a:avLst>
              <a:gd name="adj" fmla="val 50000"/>
            </a:avLst>
          </a:prstGeom>
          <a:solidFill>
            <a:srgbClr val="F26B2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2999232" y="7374636"/>
            <a:ext cx="786384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850" b="1" i="0">
                <a:solidFill>
                  <a:srgbClr val="FFFFFF"/>
                </a:solidFill>
                <a:latin typeface="Arial"/>
                <a:ea typeface="微软雅黑"/>
              </a:rPr>
              <a:t>云端解析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2999232" y="7662671"/>
            <a:ext cx="2231136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850" b="0" i="0">
                <a:solidFill>
                  <a:srgbClr val="5A6B7A"/>
                </a:solidFill>
                <a:latin typeface="Arial"/>
                <a:ea typeface="微软雅黑"/>
              </a:rPr>
              <a:t>仅发送了这句话，音频留在本机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457200" y="8549640"/>
            <a:ext cx="73152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200" b="1" i="0" spc="200">
                <a:solidFill>
                  <a:srgbClr val="FFFFFF"/>
                </a:solidFill>
                <a:latin typeface="Arial"/>
                <a:ea typeface="微软雅黑"/>
              </a:rPr>
              <a:t>SAY IT</a:t>
            </a:r>
            <a:r>
              <a:rPr sz="1200" b="0" i="0">
                <a:solidFill>
                  <a:srgbClr val="F26B21"/>
                </a:solidFill>
                <a:latin typeface="Arial"/>
                <a:ea typeface="微软雅黑"/>
              </a:rPr>
              <a:t>  →  </a:t>
            </a:r>
            <a:r>
              <a:rPr sz="1200" b="1" i="0" spc="200">
                <a:solidFill>
                  <a:srgbClr val="FFFFFF"/>
                </a:solidFill>
                <a:latin typeface="Arial"/>
                <a:ea typeface="微软雅黑"/>
              </a:rPr>
              <a:t>LOGGED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457200" y="8979408"/>
            <a:ext cx="73152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200" b="1" i="0">
                <a:solidFill>
                  <a:srgbClr val="FFFFFF"/>
                </a:solidFill>
                <a:latin typeface="Arial"/>
                <a:ea typeface="微软雅黑"/>
              </a:rPr>
              <a:t>一句话入账 × 账本在本地 × 每周一句建议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457200" y="9308592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950" b="0" i="0" spc="60">
                <a:solidFill>
                  <a:srgbClr val="93A9BC"/>
                </a:solidFill>
                <a:latin typeface="Arial"/>
                <a:ea typeface="微软雅黑"/>
              </a:rPr>
              <a:t>One-sentence entry × On-device ledger × Weekly nudge</a:t>
            </a:r>
          </a:p>
        </p:txBody>
      </p:sp>
      <p:sp>
        <p:nvSpPr>
          <p:cNvPr id="35" name="Rectangle 34"/>
          <p:cNvSpPr/>
          <p:nvPr/>
        </p:nvSpPr>
        <p:spPr>
          <a:xfrm>
            <a:off x="457200" y="9966960"/>
            <a:ext cx="7315200" cy="9525"/>
          </a:xfrm>
          <a:prstGeom prst="rect">
            <a:avLst/>
          </a:prstGeom>
          <a:solidFill>
            <a:srgbClr val="2E537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457200" y="10131552"/>
            <a:ext cx="45720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200" b="1" i="0">
                <a:solidFill>
                  <a:srgbClr val="FFFFFF"/>
                </a:solidFill>
                <a:latin typeface="Arial Black"/>
                <a:ea typeface="微软雅黑"/>
              </a:rPr>
              <a:t>TalkTally</a:t>
            </a:r>
            <a:r>
              <a:rPr sz="1200" b="1" i="0">
                <a:solidFill>
                  <a:srgbClr val="F26B21"/>
                </a:solidFill>
                <a:latin typeface="Arial Black"/>
                <a:ea typeface="微软雅黑"/>
              </a:rPr>
              <a:t>.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4114800" y="10168128"/>
            <a:ext cx="3657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900" b="0" i="0" spc="200">
                <a:solidFill>
                  <a:srgbClr val="93A9BC"/>
                </a:solidFill>
                <a:latin typeface="Arial"/>
                <a:ea typeface="微软雅黑"/>
              </a:rPr>
              <a:t>PRODUCT MANUAL · V1.0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C233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51206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600" b="1" i="0">
                <a:solidFill>
                  <a:srgbClr val="FFFFFF"/>
                </a:solidFill>
                <a:latin typeface="Arial"/>
                <a:ea typeface="微软雅黑"/>
              </a:rPr>
              <a:t>从说出口到心里有数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859536"/>
            <a:ext cx="51206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900" b="0" i="0" spc="220">
                <a:solidFill>
                  <a:srgbClr val="93A9BC"/>
                </a:solidFill>
                <a:latin typeface="Arial"/>
                <a:ea typeface="微软雅黑"/>
              </a:rPr>
              <a:t>FROM SPOKEN TO LOGGED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114800" y="475488"/>
            <a:ext cx="36576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400" b="1" i="0">
                <a:solidFill>
                  <a:srgbClr val="FFFFFF"/>
                </a:solidFill>
                <a:latin typeface="Arial Black"/>
                <a:ea typeface="微软雅黑"/>
              </a:rPr>
              <a:t>TALKTALLY</a:t>
            </a:r>
            <a:r>
              <a:rPr sz="1400" b="1" i="0">
                <a:solidFill>
                  <a:srgbClr val="F26B21"/>
                </a:solidFill>
                <a:latin typeface="Arial Black"/>
                <a:ea typeface="微软雅黑"/>
              </a:rPr>
              <a:t>.</a:t>
            </a:r>
            <a:r>
              <a:rPr sz="900" b="0" i="0" spc="150">
                <a:solidFill>
                  <a:srgbClr val="93A9BC"/>
                </a:solidFill>
                <a:latin typeface="Arial"/>
                <a:ea typeface="微软雅黑"/>
              </a:rPr>
              <a:t>   MVP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261872"/>
            <a:ext cx="7315200" cy="9525"/>
          </a:xfrm>
          <a:prstGeom prst="rect">
            <a:avLst/>
          </a:prstGeom>
          <a:solidFill>
            <a:srgbClr val="2E537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1389888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950" b="1" i="0" spc="80">
                <a:solidFill>
                  <a:srgbClr val="FFFFFF"/>
                </a:solidFill>
                <a:latin typeface="Arial"/>
                <a:ea typeface="微软雅黑"/>
              </a:rPr>
              <a:t>语音引擎 × 本地账本 × 数据最小化</a:t>
            </a:r>
            <a:r>
              <a:rPr sz="950" b="0" i="0" spc="80">
                <a:solidFill>
                  <a:srgbClr val="93A9BC"/>
                </a:solidFill>
                <a:latin typeface="Arial"/>
                <a:ea typeface="微软雅黑"/>
              </a:rPr>
              <a:t>   VOICE ENGINE · ON-DEVICE VAULT · MINIMAL DATA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1810512"/>
            <a:ext cx="356616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2600" b="1" i="0">
                <a:solidFill>
                  <a:srgbClr val="F26B21"/>
                </a:solidFill>
                <a:latin typeface="Arial Black"/>
                <a:ea typeface="微软雅黑"/>
              </a:rPr>
              <a:t>01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2304288"/>
            <a:ext cx="356616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700" b="1" i="0">
                <a:solidFill>
                  <a:srgbClr val="FFFFFF"/>
                </a:solidFill>
                <a:latin typeface="Arial"/>
                <a:ea typeface="微软雅黑"/>
              </a:rPr>
              <a:t>两层解析，一句话入账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2852928"/>
            <a:ext cx="3566160" cy="2743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lnSpc>
                <a:spcPct val="150000"/>
              </a:lnSpc>
              <a:spcAft>
                <a:spcPts val="800"/>
              </a:spcAft>
            </a:pPr>
            <a:r>
              <a:rPr sz="1050" b="0" i="0">
                <a:solidFill>
                  <a:srgbClr val="93A9BC"/>
                </a:solidFill>
                <a:latin typeface="Arial"/>
                <a:ea typeface="微软雅黑"/>
              </a:rPr>
              <a:t>本地规则先判：覆盖「星巴克 38」「打车 25」这类高频句式，零延迟、可复现、离线可用。规则拿不准的长尾句才联网解析，且只发送当前这一句——识别在本机完成，音频从不出设备。</a:t>
            </a:r>
            <a:r>
              <a:rPr sz="1050" b="0" i="0">
                <a:solidFill>
                  <a:srgbClr val="93A9BC"/>
                </a:solidFill>
                <a:latin typeface="Arial"/>
                <a:ea typeface="微软雅黑"/>
              </a:rPr>
              <a:t>账本只写入本机：不建账号、不上传，随时可完整导出。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297680" y="1810512"/>
            <a:ext cx="3474720" cy="1755648"/>
          </a:xfrm>
          <a:prstGeom prst="roundRect">
            <a:avLst>
              <a:gd name="adj" fmla="val 7000"/>
            </a:avLst>
          </a:prstGeom>
          <a:solidFill>
            <a:srgbClr val="16334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526280" y="1993392"/>
            <a:ext cx="3017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500" b="1" i="0">
                <a:solidFill>
                  <a:srgbClr val="F26B21"/>
                </a:solidFill>
                <a:latin typeface="Arial Black"/>
                <a:ea typeface="微软雅黑"/>
              </a:rPr>
              <a:t>01  </a:t>
            </a:r>
            <a:r>
              <a:rPr sz="1300" b="1" i="0">
                <a:solidFill>
                  <a:srgbClr val="FFFFFF"/>
                </a:solidFill>
                <a:latin typeface="Arial"/>
                <a:ea typeface="微软雅黑"/>
              </a:rPr>
              <a:t>说一句  </a:t>
            </a:r>
            <a:r>
              <a:rPr sz="900" b="0" i="0" spc="150">
                <a:solidFill>
                  <a:srgbClr val="93A9BC"/>
                </a:solidFill>
                <a:latin typeface="Arial"/>
                <a:ea typeface="微软雅黑"/>
              </a:rPr>
              <a:t>SPEAK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26280" y="2414016"/>
            <a:ext cx="3017520" cy="10058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lnSpc>
                <a:spcPct val="145000"/>
              </a:lnSpc>
            </a:pPr>
            <a:r>
              <a:rPr sz="1000" b="0" i="0">
                <a:solidFill>
                  <a:srgbClr val="93A9BC"/>
                </a:solidFill>
                <a:latin typeface="Arial"/>
                <a:ea typeface="微软雅黑"/>
              </a:rPr>
              <a:t>按住说话，端侧识别成文本；三秒得到一张结构化卡片：金额、分类、账户、时间。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297680" y="3749039"/>
            <a:ext cx="3474720" cy="1755648"/>
          </a:xfrm>
          <a:prstGeom prst="roundRect">
            <a:avLst>
              <a:gd name="adj" fmla="val 7000"/>
            </a:avLst>
          </a:prstGeom>
          <a:solidFill>
            <a:srgbClr val="16334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526280" y="3931920"/>
            <a:ext cx="3017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500" b="1" i="0">
                <a:solidFill>
                  <a:srgbClr val="F26B21"/>
                </a:solidFill>
                <a:latin typeface="Arial Black"/>
                <a:ea typeface="微软雅黑"/>
              </a:rPr>
              <a:t>02  </a:t>
            </a:r>
            <a:r>
              <a:rPr sz="1300" b="1" i="0">
                <a:solidFill>
                  <a:srgbClr val="FFFFFF"/>
                </a:solidFill>
                <a:latin typeface="Arial"/>
                <a:ea typeface="微软雅黑"/>
              </a:rPr>
              <a:t>存本地  </a:t>
            </a:r>
            <a:r>
              <a:rPr sz="900" b="0" i="0" spc="150">
                <a:solidFill>
                  <a:srgbClr val="93A9BC"/>
                </a:solidFill>
                <a:latin typeface="Arial"/>
                <a:ea typeface="微软雅黑"/>
              </a:rPr>
              <a:t>KEEP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26280" y="4352544"/>
            <a:ext cx="3017520" cy="10058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lnSpc>
                <a:spcPct val="145000"/>
              </a:lnSpc>
            </a:pPr>
            <a:r>
              <a:rPr sz="1000" b="0" i="0">
                <a:solidFill>
                  <a:srgbClr val="93A9BC"/>
                </a:solidFill>
                <a:latin typeface="Arial"/>
                <a:ea typeface="微软雅黑"/>
              </a:rPr>
              <a:t>账本写入本机数据库，可选本机加密；一键导出 CSV / Excel / JSON，永久免费。</a:t>
            </a:r>
          </a:p>
        </p:txBody>
      </p:sp>
      <p:sp>
        <p:nvSpPr>
          <p:cNvPr id="16" name="Rectangle 15"/>
          <p:cNvSpPr/>
          <p:nvPr/>
        </p:nvSpPr>
        <p:spPr>
          <a:xfrm>
            <a:off x="457200" y="6355080"/>
            <a:ext cx="7315200" cy="9525"/>
          </a:xfrm>
          <a:prstGeom prst="rect">
            <a:avLst/>
          </a:prstGeom>
          <a:solidFill>
            <a:srgbClr val="2E537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57200" y="6510528"/>
            <a:ext cx="59436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500" b="1" i="0">
                <a:solidFill>
                  <a:srgbClr val="FFFFFF"/>
                </a:solidFill>
                <a:latin typeface="Arial"/>
                <a:ea typeface="微软雅黑"/>
              </a:rPr>
              <a:t>从开口到复盘，五步走完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57200" y="6894576"/>
            <a:ext cx="5943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900" b="0" i="0" spc="200">
                <a:solidFill>
                  <a:srgbClr val="93A9BC"/>
                </a:solidFill>
                <a:latin typeface="Arial"/>
                <a:ea typeface="微软雅黑"/>
              </a:rPr>
              <a:t>FIVE STEPS, UTTERANCE TO REVIEW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57200" y="7315200"/>
            <a:ext cx="132588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2000" b="1" i="0">
                <a:solidFill>
                  <a:srgbClr val="F26B21"/>
                </a:solidFill>
                <a:latin typeface="Arial Black"/>
                <a:ea typeface="微软雅黑"/>
              </a:rPr>
              <a:t>01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57200" y="7754112"/>
            <a:ext cx="132588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200" b="1" i="0">
                <a:solidFill>
                  <a:srgbClr val="FFFFFF"/>
                </a:solidFill>
                <a:latin typeface="Arial"/>
                <a:ea typeface="微软雅黑"/>
              </a:rPr>
              <a:t>唤醒  </a:t>
            </a:r>
            <a:r>
              <a:rPr sz="800" b="0" i="0" spc="80">
                <a:solidFill>
                  <a:srgbClr val="93A9BC"/>
                </a:solidFill>
                <a:latin typeface="Arial"/>
                <a:ea typeface="微软雅黑"/>
              </a:rPr>
              <a:t>WAKE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57200" y="8119872"/>
            <a:ext cx="1298448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lnSpc>
                <a:spcPct val="140000"/>
              </a:lnSpc>
            </a:pPr>
            <a:r>
              <a:rPr sz="900" b="0" i="0">
                <a:solidFill>
                  <a:srgbClr val="93A9BC"/>
                </a:solidFill>
                <a:latin typeface="Arial"/>
                <a:ea typeface="微软雅黑"/>
              </a:rPr>
              <a:t>按住小组件直接说</a:t>
            </a:r>
          </a:p>
        </p:txBody>
      </p:sp>
      <p:sp>
        <p:nvSpPr>
          <p:cNvPr id="22" name="Rectangle 21"/>
          <p:cNvSpPr/>
          <p:nvPr/>
        </p:nvSpPr>
        <p:spPr>
          <a:xfrm>
            <a:off x="1865376" y="7315200"/>
            <a:ext cx="9525" cy="1600200"/>
          </a:xfrm>
          <a:prstGeom prst="rect">
            <a:avLst/>
          </a:prstGeom>
          <a:solidFill>
            <a:srgbClr val="2E537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1920240" y="7315200"/>
            <a:ext cx="132588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2000" b="1" i="0">
                <a:solidFill>
                  <a:srgbClr val="F26B21"/>
                </a:solidFill>
                <a:latin typeface="Arial Black"/>
                <a:ea typeface="微软雅黑"/>
              </a:rPr>
              <a:t>02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920240" y="7754112"/>
            <a:ext cx="132588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200" b="1" i="0">
                <a:solidFill>
                  <a:srgbClr val="FFFFFF"/>
                </a:solidFill>
                <a:latin typeface="Arial"/>
                <a:ea typeface="微软雅黑"/>
              </a:rPr>
              <a:t>说出  </a:t>
            </a:r>
            <a:r>
              <a:rPr sz="800" b="0" i="0" spc="80">
                <a:solidFill>
                  <a:srgbClr val="93A9BC"/>
                </a:solidFill>
                <a:latin typeface="Arial"/>
                <a:ea typeface="微软雅黑"/>
              </a:rPr>
              <a:t>SPEAK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920240" y="8119872"/>
            <a:ext cx="1298448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lnSpc>
                <a:spcPct val="140000"/>
              </a:lnSpc>
            </a:pPr>
            <a:r>
              <a:rPr sz="900" b="0" i="0">
                <a:solidFill>
                  <a:srgbClr val="93A9BC"/>
                </a:solidFill>
                <a:latin typeface="Arial"/>
                <a:ea typeface="微软雅黑"/>
              </a:rPr>
              <a:t>音频从不出设备</a:t>
            </a:r>
          </a:p>
        </p:txBody>
      </p:sp>
      <p:sp>
        <p:nvSpPr>
          <p:cNvPr id="26" name="Rectangle 25"/>
          <p:cNvSpPr/>
          <p:nvPr/>
        </p:nvSpPr>
        <p:spPr>
          <a:xfrm>
            <a:off x="3328416" y="7315200"/>
            <a:ext cx="9525" cy="1600200"/>
          </a:xfrm>
          <a:prstGeom prst="rect">
            <a:avLst/>
          </a:prstGeom>
          <a:solidFill>
            <a:srgbClr val="2E537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3383280" y="7315200"/>
            <a:ext cx="132588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2000" b="1" i="0">
                <a:solidFill>
                  <a:srgbClr val="F26B21"/>
                </a:solidFill>
                <a:latin typeface="Arial Black"/>
                <a:ea typeface="微软雅黑"/>
              </a:rPr>
              <a:t>03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3383280" y="7754112"/>
            <a:ext cx="132588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200" b="1" i="0">
                <a:solidFill>
                  <a:srgbClr val="FFFFFF"/>
                </a:solidFill>
                <a:latin typeface="Arial"/>
                <a:ea typeface="微软雅黑"/>
              </a:rPr>
              <a:t>解析  </a:t>
            </a:r>
            <a:r>
              <a:rPr sz="800" b="0" i="0" spc="80">
                <a:solidFill>
                  <a:srgbClr val="93A9BC"/>
                </a:solidFill>
                <a:latin typeface="Arial"/>
                <a:ea typeface="微软雅黑"/>
              </a:rPr>
              <a:t>PARSE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3383280" y="8119872"/>
            <a:ext cx="1298448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lnSpc>
                <a:spcPct val="140000"/>
              </a:lnSpc>
            </a:pPr>
            <a:r>
              <a:rPr sz="900" b="0" i="0">
                <a:solidFill>
                  <a:srgbClr val="93A9BC"/>
                </a:solidFill>
                <a:latin typeface="Arial"/>
                <a:ea typeface="微软雅黑"/>
              </a:rPr>
              <a:t>规则先判，长尾联网</a:t>
            </a:r>
          </a:p>
        </p:txBody>
      </p:sp>
      <p:sp>
        <p:nvSpPr>
          <p:cNvPr id="30" name="Rectangle 29"/>
          <p:cNvSpPr/>
          <p:nvPr/>
        </p:nvSpPr>
        <p:spPr>
          <a:xfrm>
            <a:off x="4791456" y="7315200"/>
            <a:ext cx="9525" cy="1600200"/>
          </a:xfrm>
          <a:prstGeom prst="rect">
            <a:avLst/>
          </a:prstGeom>
          <a:solidFill>
            <a:srgbClr val="2E537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4846320" y="7315200"/>
            <a:ext cx="132588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2000" b="1" i="0">
                <a:solidFill>
                  <a:srgbClr val="F26B21"/>
                </a:solidFill>
                <a:latin typeface="Arial Black"/>
                <a:ea typeface="微软雅黑"/>
              </a:rPr>
              <a:t>04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4846320" y="7754112"/>
            <a:ext cx="132588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200" b="1" i="0">
                <a:solidFill>
                  <a:srgbClr val="FFFFFF"/>
                </a:solidFill>
                <a:latin typeface="Arial"/>
                <a:ea typeface="微软雅黑"/>
              </a:rPr>
              <a:t>确认  </a:t>
            </a:r>
            <a:r>
              <a:rPr sz="800" b="0" i="0" spc="80">
                <a:solidFill>
                  <a:srgbClr val="93A9BC"/>
                </a:solidFill>
                <a:latin typeface="Arial"/>
                <a:ea typeface="微软雅黑"/>
              </a:rPr>
              <a:t>CONFIRM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4846320" y="8119872"/>
            <a:ext cx="1298448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lnSpc>
                <a:spcPct val="140000"/>
              </a:lnSpc>
            </a:pPr>
            <a:r>
              <a:rPr sz="900" b="0" i="0">
                <a:solidFill>
                  <a:srgbClr val="93A9BC"/>
                </a:solidFill>
                <a:latin typeface="Arial"/>
                <a:ea typeface="微软雅黑"/>
              </a:rPr>
              <a:t>卡片可点改，可语音改</a:t>
            </a:r>
          </a:p>
        </p:txBody>
      </p:sp>
      <p:sp>
        <p:nvSpPr>
          <p:cNvPr id="34" name="Rectangle 33"/>
          <p:cNvSpPr/>
          <p:nvPr/>
        </p:nvSpPr>
        <p:spPr>
          <a:xfrm>
            <a:off x="6254496" y="7315200"/>
            <a:ext cx="9525" cy="1600200"/>
          </a:xfrm>
          <a:prstGeom prst="rect">
            <a:avLst/>
          </a:prstGeom>
          <a:solidFill>
            <a:srgbClr val="2E537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6309360" y="7315200"/>
            <a:ext cx="132588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2000" b="1" i="0">
                <a:solidFill>
                  <a:srgbClr val="F26B21"/>
                </a:solidFill>
                <a:latin typeface="Arial Black"/>
                <a:ea typeface="微软雅黑"/>
              </a:rPr>
              <a:t>05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6309360" y="7754112"/>
            <a:ext cx="132588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200" b="1" i="0">
                <a:solidFill>
                  <a:srgbClr val="FFFFFF"/>
                </a:solidFill>
                <a:latin typeface="Arial"/>
                <a:ea typeface="微软雅黑"/>
              </a:rPr>
              <a:t>复盘  </a:t>
            </a:r>
            <a:r>
              <a:rPr sz="800" b="0" i="0" spc="80">
                <a:solidFill>
                  <a:srgbClr val="93A9BC"/>
                </a:solidFill>
                <a:latin typeface="Arial"/>
                <a:ea typeface="微软雅黑"/>
              </a:rPr>
              <a:t>REVIEW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6309360" y="8119872"/>
            <a:ext cx="1298448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lnSpc>
                <a:spcPct val="140000"/>
              </a:lnSpc>
            </a:pPr>
            <a:r>
              <a:rPr sz="900" b="0" i="0">
                <a:solidFill>
                  <a:srgbClr val="93A9BC"/>
                </a:solidFill>
                <a:latin typeface="Arial"/>
                <a:ea typeface="微软雅黑"/>
              </a:rPr>
              <a:t>每周一句周报建议</a:t>
            </a:r>
          </a:p>
        </p:txBody>
      </p:sp>
      <p:sp>
        <p:nvSpPr>
          <p:cNvPr id="38" name="Rectangle 37"/>
          <p:cNvSpPr/>
          <p:nvPr/>
        </p:nvSpPr>
        <p:spPr>
          <a:xfrm>
            <a:off x="457200" y="9189720"/>
            <a:ext cx="7315200" cy="9525"/>
          </a:xfrm>
          <a:prstGeom prst="rect">
            <a:avLst/>
          </a:prstGeom>
          <a:solidFill>
            <a:srgbClr val="2E537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457200" y="9345168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950" b="1" i="0">
                <a:solidFill>
                  <a:srgbClr val="FFFFFF"/>
                </a:solidFill>
                <a:latin typeface="Arial"/>
                <a:ea typeface="微软雅黑"/>
              </a:rPr>
              <a:t>每笔入账都标注解析路径</a:t>
            </a:r>
            <a:r>
              <a:rPr sz="950" b="0" i="0">
                <a:solidFill>
                  <a:srgbClr val="93A9BC"/>
                </a:solidFill>
                <a:latin typeface="Arial"/>
                <a:ea typeface="微软雅黑"/>
              </a:rPr>
              <a:t>——本地规则或云端兜底，流水明细里随时可查。</a:t>
            </a:r>
          </a:p>
        </p:txBody>
      </p:sp>
      <p:sp>
        <p:nvSpPr>
          <p:cNvPr id="40" name="Rectangle 39"/>
          <p:cNvSpPr/>
          <p:nvPr/>
        </p:nvSpPr>
        <p:spPr>
          <a:xfrm>
            <a:off x="457200" y="10058400"/>
            <a:ext cx="7315200" cy="9525"/>
          </a:xfrm>
          <a:prstGeom prst="rect">
            <a:avLst/>
          </a:prstGeom>
          <a:solidFill>
            <a:srgbClr val="2E537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457200" y="10186416"/>
            <a:ext cx="45720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850" b="0" i="0" spc="200">
                <a:solidFill>
                  <a:srgbClr val="93A9BC"/>
                </a:solidFill>
                <a:latin typeface="Arial"/>
                <a:ea typeface="微软雅黑"/>
              </a:rPr>
              <a:t>INSIDE · HOW IT WORKS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4114800" y="10186416"/>
            <a:ext cx="3657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850" b="0" i="0" spc="200">
                <a:solidFill>
                  <a:srgbClr val="93A9BC"/>
                </a:solidFill>
                <a:latin typeface="Arial"/>
                <a:ea typeface="微软雅黑"/>
              </a:rPr>
              <a:t>01 / 04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C233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51206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600" b="1" i="0">
                <a:solidFill>
                  <a:srgbClr val="FFFFFF"/>
                </a:solidFill>
                <a:latin typeface="Arial"/>
                <a:ea typeface="微软雅黑"/>
              </a:rPr>
              <a:t>语音记账，真实场景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859536"/>
            <a:ext cx="51206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900" b="0" i="0" spc="220">
                <a:solidFill>
                  <a:srgbClr val="93A9BC"/>
                </a:solidFill>
                <a:latin typeface="Arial"/>
                <a:ea typeface="微软雅黑"/>
              </a:rPr>
              <a:t>REAL-WORLD USE CASES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114800" y="475488"/>
            <a:ext cx="36576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400" b="1" i="0">
                <a:solidFill>
                  <a:srgbClr val="FFFFFF"/>
                </a:solidFill>
                <a:latin typeface="Arial Black"/>
                <a:ea typeface="微软雅黑"/>
              </a:rPr>
              <a:t>TALKTALLY</a:t>
            </a:r>
            <a:r>
              <a:rPr sz="1400" b="1" i="0">
                <a:solidFill>
                  <a:srgbClr val="F26B21"/>
                </a:solidFill>
                <a:latin typeface="Arial Black"/>
                <a:ea typeface="微软雅黑"/>
              </a:rPr>
              <a:t>.</a:t>
            </a:r>
            <a:r>
              <a:rPr sz="900" b="0" i="0" spc="150">
                <a:solidFill>
                  <a:srgbClr val="93A9BC"/>
                </a:solidFill>
                <a:latin typeface="Arial"/>
                <a:ea typeface="微软雅黑"/>
              </a:rPr>
              <a:t>   MVP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261872"/>
            <a:ext cx="7315200" cy="9525"/>
          </a:xfrm>
          <a:prstGeom prst="rect">
            <a:avLst/>
          </a:prstGeom>
          <a:solidFill>
            <a:srgbClr val="2E537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1463040"/>
            <a:ext cx="731520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500" b="1" i="0">
                <a:solidFill>
                  <a:srgbClr val="FFFFFF"/>
                </a:solidFill>
                <a:latin typeface="Arial"/>
                <a:ea typeface="微软雅黑"/>
              </a:rPr>
              <a:t>记账的敌人不是懒，是每一步都要点五下。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1865376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950" b="0" i="0">
                <a:solidFill>
                  <a:srgbClr val="93A9BC"/>
                </a:solidFill>
                <a:latin typeface="Arial"/>
                <a:ea typeface="微软雅黑"/>
              </a:rPr>
              <a:t>The enemy of bookkeeping isn't laziness — it's five taps per transaction.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57200" y="2240280"/>
            <a:ext cx="3566160" cy="1508760"/>
          </a:xfrm>
          <a:prstGeom prst="roundRect">
            <a:avLst>
              <a:gd name="adj" fmla="val 7000"/>
            </a:avLst>
          </a:prstGeom>
          <a:solidFill>
            <a:srgbClr val="16334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76656" y="2368296"/>
            <a:ext cx="32004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400" b="1" i="0">
                <a:solidFill>
                  <a:srgbClr val="F26B21"/>
                </a:solidFill>
                <a:latin typeface="Arial Black"/>
                <a:ea typeface="微软雅黑"/>
              </a:rPr>
              <a:t>01  </a:t>
            </a:r>
            <a:r>
              <a:rPr sz="1250" b="1" i="0">
                <a:solidFill>
                  <a:srgbClr val="FFFFFF"/>
                </a:solidFill>
                <a:latin typeface="Arial"/>
                <a:ea typeface="微软雅黑"/>
              </a:rPr>
              <a:t>通勤白领  </a:t>
            </a:r>
            <a:r>
              <a:rPr sz="800" b="0" i="0" spc="60">
                <a:solidFill>
                  <a:srgbClr val="93A9BC"/>
                </a:solidFill>
                <a:latin typeface="Arial"/>
                <a:ea typeface="微软雅黑"/>
              </a:rPr>
              <a:t>DAILY COMMUTE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76656" y="2825496"/>
            <a:ext cx="3154680" cy="868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lnSpc>
                <a:spcPct val="145000"/>
              </a:lnSpc>
            </a:pPr>
            <a:r>
              <a:rPr sz="950" b="0" i="0">
                <a:solidFill>
                  <a:srgbClr val="93A9BC"/>
                </a:solidFill>
                <a:latin typeface="Arial"/>
                <a:ea typeface="微软雅黑"/>
              </a:rPr>
              <a:t>外卖、咖啡、便利店，一天十几笔；按住说一句，金额、分类、账户都已归好。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206240" y="2240280"/>
            <a:ext cx="3566160" cy="1508760"/>
          </a:xfrm>
          <a:prstGeom prst="roundRect">
            <a:avLst>
              <a:gd name="adj" fmla="val 7000"/>
            </a:avLst>
          </a:prstGeom>
          <a:solidFill>
            <a:srgbClr val="16334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425696" y="2368296"/>
            <a:ext cx="32004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400" b="1" i="0">
                <a:solidFill>
                  <a:srgbClr val="F26B21"/>
                </a:solidFill>
                <a:latin typeface="Arial Black"/>
                <a:ea typeface="微软雅黑"/>
              </a:rPr>
              <a:t>02  </a:t>
            </a:r>
            <a:r>
              <a:rPr sz="1250" b="1" i="0">
                <a:solidFill>
                  <a:srgbClr val="FFFFFF"/>
                </a:solidFill>
                <a:latin typeface="Arial"/>
                <a:ea typeface="微软雅黑"/>
              </a:rPr>
              <a:t>精算学生  </a:t>
            </a:r>
            <a:r>
              <a:rPr sz="800" b="0" i="0" spc="60">
                <a:solidFill>
                  <a:srgbClr val="93A9BC"/>
                </a:solidFill>
                <a:latin typeface="Arial"/>
                <a:ea typeface="微软雅黑"/>
              </a:rPr>
              <a:t>TIGHT BUDGET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425696" y="2825496"/>
            <a:ext cx="3154680" cy="868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lnSpc>
                <a:spcPct val="145000"/>
              </a:lnSpc>
            </a:pPr>
            <a:r>
              <a:rPr sz="950" b="0" i="0">
                <a:solidFill>
                  <a:srgbClr val="93A9BC"/>
                </a:solidFill>
                <a:latin typeface="Arial"/>
                <a:ea typeface="微软雅黑"/>
              </a:rPr>
              <a:t>首月预算按周排好；每周一句周报，说清超支多少、花在了哪。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57200" y="3931920"/>
            <a:ext cx="3566160" cy="1508760"/>
          </a:xfrm>
          <a:prstGeom prst="roundRect">
            <a:avLst>
              <a:gd name="adj" fmla="val 7000"/>
            </a:avLst>
          </a:prstGeom>
          <a:solidFill>
            <a:srgbClr val="16334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76656" y="4059936"/>
            <a:ext cx="32004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400" b="1" i="0">
                <a:solidFill>
                  <a:srgbClr val="F26B21"/>
                </a:solidFill>
                <a:latin typeface="Arial Black"/>
                <a:ea typeface="微软雅黑"/>
              </a:rPr>
              <a:t>03  </a:t>
            </a:r>
            <a:r>
              <a:rPr sz="1250" b="1" i="0">
                <a:solidFill>
                  <a:srgbClr val="FFFFFF"/>
                </a:solidFill>
                <a:latin typeface="Arial"/>
                <a:ea typeface="微软雅黑"/>
              </a:rPr>
              <a:t>情侣合账  </a:t>
            </a:r>
            <a:r>
              <a:rPr sz="800" b="0" i="0" spc="60">
                <a:solidFill>
                  <a:srgbClr val="93A9BC"/>
                </a:solidFill>
                <a:latin typeface="Arial"/>
                <a:ea typeface="微软雅黑"/>
              </a:rPr>
              <a:t>SHARED COSTS</a:t>
            </a:r>
            <a:r>
              <a:rPr sz="800" b="1" i="0">
                <a:solidFill>
                  <a:srgbClr val="F26B21"/>
                </a:solidFill>
                <a:latin typeface="Arial"/>
                <a:ea typeface="微软雅黑"/>
              </a:rPr>
              <a:t>  · V0.2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76656" y="4517136"/>
            <a:ext cx="3154680" cy="868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lnSpc>
                <a:spcPct val="145000"/>
              </a:lnSpc>
            </a:pPr>
            <a:r>
              <a:rPr sz="950" b="0" i="0">
                <a:solidFill>
                  <a:srgbClr val="93A9BC"/>
                </a:solidFill>
                <a:latin typeface="Arial"/>
                <a:ea typeface="微软雅黑"/>
              </a:rPr>
              <a:t>各说各的，月底合并对账；两笔疑似同一笔，自动提示确认。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4206240" y="3931920"/>
            <a:ext cx="3566160" cy="1508760"/>
          </a:xfrm>
          <a:prstGeom prst="roundRect">
            <a:avLst>
              <a:gd name="adj" fmla="val 7000"/>
            </a:avLst>
          </a:prstGeom>
          <a:solidFill>
            <a:srgbClr val="16334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4425696" y="4059936"/>
            <a:ext cx="32004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400" b="1" i="0">
                <a:solidFill>
                  <a:srgbClr val="F26B21"/>
                </a:solidFill>
                <a:latin typeface="Arial Black"/>
                <a:ea typeface="微软雅黑"/>
              </a:rPr>
              <a:t>04  </a:t>
            </a:r>
            <a:r>
              <a:rPr sz="1250" b="1" i="0">
                <a:solidFill>
                  <a:srgbClr val="FFFFFF"/>
                </a:solidFill>
                <a:latin typeface="Arial"/>
                <a:ea typeface="微软雅黑"/>
              </a:rPr>
              <a:t>复杂交易  </a:t>
            </a:r>
            <a:r>
              <a:rPr sz="800" b="0" i="0" spc="60">
                <a:solidFill>
                  <a:srgbClr val="93A9BC"/>
                </a:solidFill>
                <a:latin typeface="Arial"/>
                <a:ea typeface="微软雅黑"/>
              </a:rPr>
              <a:t>COMPLEX ENTRIES</a:t>
            </a:r>
            <a:r>
              <a:rPr sz="800" b="1" i="0">
                <a:solidFill>
                  <a:srgbClr val="F26B21"/>
                </a:solidFill>
                <a:latin typeface="Arial"/>
                <a:ea typeface="微软雅黑"/>
              </a:rPr>
              <a:t>  · V0.2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425696" y="4517136"/>
            <a:ext cx="3154680" cy="868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lnSpc>
                <a:spcPct val="145000"/>
              </a:lnSpc>
            </a:pPr>
            <a:r>
              <a:rPr sz="950" b="0" i="0">
                <a:solidFill>
                  <a:srgbClr val="93A9BC"/>
                </a:solidFill>
                <a:latin typeface="Arial"/>
                <a:ea typeface="微软雅黑"/>
              </a:rPr>
              <a:t>代付、AA、退款，一句话说清两笔；分类与金额分别落账。</a:t>
            </a:r>
          </a:p>
        </p:txBody>
      </p:sp>
      <p:sp>
        <p:nvSpPr>
          <p:cNvPr id="20" name="Rectangle 19"/>
          <p:cNvSpPr/>
          <p:nvPr/>
        </p:nvSpPr>
        <p:spPr>
          <a:xfrm>
            <a:off x="457200" y="5760720"/>
            <a:ext cx="7315200" cy="9525"/>
          </a:xfrm>
          <a:prstGeom prst="rect">
            <a:avLst/>
          </a:prstGeom>
          <a:solidFill>
            <a:srgbClr val="2E537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457200" y="5907024"/>
            <a:ext cx="59436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500" b="1" i="0">
                <a:solidFill>
                  <a:srgbClr val="FFFFFF"/>
                </a:solidFill>
                <a:latin typeface="Arial"/>
                <a:ea typeface="微软雅黑"/>
              </a:rPr>
              <a:t>数据最小化三原则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57200" y="6291072"/>
            <a:ext cx="5943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900" b="0" i="0" spc="200">
                <a:solidFill>
                  <a:srgbClr val="93A9BC"/>
                </a:solidFill>
                <a:latin typeface="Arial"/>
                <a:ea typeface="微软雅黑"/>
              </a:rPr>
              <a:t>MINIMAL-DATA RULES</a:t>
            </a:r>
          </a:p>
        </p:txBody>
      </p:sp>
      <p:sp>
        <p:nvSpPr>
          <p:cNvPr id="23" name="Rectangle 22"/>
          <p:cNvSpPr/>
          <p:nvPr/>
        </p:nvSpPr>
        <p:spPr>
          <a:xfrm>
            <a:off x="457200" y="6757416"/>
            <a:ext cx="100584" cy="100584"/>
          </a:xfrm>
          <a:prstGeom prst="rect">
            <a:avLst/>
          </a:prstGeom>
          <a:solidFill>
            <a:srgbClr val="F26B2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713232" y="6675120"/>
            <a:ext cx="704088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150" b="1" i="0">
                <a:solidFill>
                  <a:srgbClr val="FFFFFF"/>
                </a:solidFill>
                <a:latin typeface="Arial"/>
                <a:ea typeface="微软雅黑"/>
              </a:rPr>
              <a:t>只发当句　</a:t>
            </a:r>
            <a:r>
              <a:rPr sz="1000" b="0" i="0">
                <a:solidFill>
                  <a:srgbClr val="93A9BC"/>
                </a:solidFill>
                <a:latin typeface="Arial"/>
                <a:ea typeface="微软雅黑"/>
              </a:rPr>
              <a:t>—  联网时仅发送当前这句话，不带账号、位置与历史流水</a:t>
            </a:r>
          </a:p>
        </p:txBody>
      </p:sp>
      <p:sp>
        <p:nvSpPr>
          <p:cNvPr id="25" name="Rectangle 24"/>
          <p:cNvSpPr/>
          <p:nvPr/>
        </p:nvSpPr>
        <p:spPr>
          <a:xfrm>
            <a:off x="457200" y="7324344"/>
            <a:ext cx="100584" cy="100584"/>
          </a:xfrm>
          <a:prstGeom prst="rect">
            <a:avLst/>
          </a:prstGeom>
          <a:solidFill>
            <a:srgbClr val="F26B2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713232" y="7242048"/>
            <a:ext cx="704088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150" b="1" i="0">
                <a:solidFill>
                  <a:srgbClr val="FFFFFF"/>
                </a:solidFill>
                <a:latin typeface="Arial"/>
                <a:ea typeface="微软雅黑"/>
              </a:rPr>
              <a:t>零留存　</a:t>
            </a:r>
            <a:r>
              <a:rPr sz="1000" b="0" i="0">
                <a:solidFill>
                  <a:srgbClr val="93A9BC"/>
                </a:solidFill>
                <a:latin typeface="Arial"/>
                <a:ea typeface="微软雅黑"/>
              </a:rPr>
              <a:t>—  服务端不留存、不训练；原始音频从不出设备</a:t>
            </a:r>
          </a:p>
        </p:txBody>
      </p:sp>
      <p:sp>
        <p:nvSpPr>
          <p:cNvPr id="27" name="Rectangle 26"/>
          <p:cNvSpPr/>
          <p:nvPr/>
        </p:nvSpPr>
        <p:spPr>
          <a:xfrm>
            <a:off x="457200" y="7891271"/>
            <a:ext cx="100584" cy="100584"/>
          </a:xfrm>
          <a:prstGeom prst="rect">
            <a:avLst/>
          </a:prstGeom>
          <a:solidFill>
            <a:srgbClr val="F26B2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713232" y="7808975"/>
            <a:ext cx="704088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150" b="1" i="0">
                <a:solidFill>
                  <a:srgbClr val="FFFFFF"/>
                </a:solidFill>
                <a:latin typeface="Arial"/>
                <a:ea typeface="微软雅黑"/>
              </a:rPr>
              <a:t>可关闭　</a:t>
            </a:r>
            <a:r>
              <a:rPr sz="1000" b="0" i="0">
                <a:solidFill>
                  <a:srgbClr val="93A9BC"/>
                </a:solidFill>
                <a:latin typeface="Arial"/>
                <a:ea typeface="微软雅黑"/>
              </a:rPr>
              <a:t>—  一键关闭云端解析，本地规则照样记完每一笔</a:t>
            </a:r>
          </a:p>
        </p:txBody>
      </p:sp>
      <p:sp>
        <p:nvSpPr>
          <p:cNvPr id="29" name="Rectangle 28"/>
          <p:cNvSpPr/>
          <p:nvPr/>
        </p:nvSpPr>
        <p:spPr>
          <a:xfrm>
            <a:off x="457200" y="8595360"/>
            <a:ext cx="7315200" cy="9525"/>
          </a:xfrm>
          <a:prstGeom prst="rect">
            <a:avLst/>
          </a:prstGeom>
          <a:solidFill>
            <a:srgbClr val="2E537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457200" y="8833104"/>
            <a:ext cx="502920" cy="64008"/>
          </a:xfrm>
          <a:prstGeom prst="rect">
            <a:avLst/>
          </a:prstGeom>
          <a:solidFill>
            <a:srgbClr val="F26B2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457200" y="8997696"/>
            <a:ext cx="73152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800" b="1" i="0">
                <a:solidFill>
                  <a:srgbClr val="FFFFFF"/>
                </a:solidFill>
                <a:latin typeface="Arial"/>
                <a:ea typeface="微软雅黑"/>
              </a:rPr>
              <a:t>说出去的话，收进本地的账。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457200" y="9436608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000" b="0" i="0">
                <a:solidFill>
                  <a:srgbClr val="93A9BC"/>
                </a:solidFill>
                <a:latin typeface="Arial"/>
                <a:ea typeface="微软雅黑"/>
              </a:rPr>
              <a:t>Spoken once, kept on device.</a:t>
            </a:r>
          </a:p>
        </p:txBody>
      </p:sp>
      <p:sp>
        <p:nvSpPr>
          <p:cNvPr id="33" name="Rectangle 32"/>
          <p:cNvSpPr/>
          <p:nvPr/>
        </p:nvSpPr>
        <p:spPr>
          <a:xfrm>
            <a:off x="457200" y="10058400"/>
            <a:ext cx="7315200" cy="9525"/>
          </a:xfrm>
          <a:prstGeom prst="rect">
            <a:avLst/>
          </a:prstGeom>
          <a:solidFill>
            <a:srgbClr val="2E537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457200" y="10186416"/>
            <a:ext cx="45720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850" b="0" i="0" spc="200">
                <a:solidFill>
                  <a:srgbClr val="93A9BC"/>
                </a:solidFill>
                <a:latin typeface="Arial"/>
                <a:ea typeface="微软雅黑"/>
              </a:rPr>
              <a:t>INSIDE · USE CASES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4114800" y="10186416"/>
            <a:ext cx="3657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850" b="0" i="0" spc="200">
                <a:solidFill>
                  <a:srgbClr val="93A9BC"/>
                </a:solidFill>
                <a:latin typeface="Arial"/>
                <a:ea typeface="微软雅黑"/>
              </a:rPr>
              <a:t>02 / 04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C233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45720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500" b="1" i="0">
                <a:solidFill>
                  <a:srgbClr val="FFFFFF"/>
                </a:solidFill>
                <a:latin typeface="Arial Black"/>
                <a:ea typeface="微软雅黑"/>
              </a:rPr>
              <a:t>TALKTALLY</a:t>
            </a:r>
            <a:r>
              <a:rPr sz="1500" b="1" i="0">
                <a:solidFill>
                  <a:srgbClr val="F26B21"/>
                </a:solidFill>
                <a:latin typeface="Arial Black"/>
                <a:ea typeface="微软雅黑"/>
              </a:rPr>
              <a:t>.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114800" y="512064"/>
            <a:ext cx="3657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950" b="0" i="0" spc="220">
                <a:solidFill>
                  <a:srgbClr val="93A9BC"/>
                </a:solidFill>
                <a:latin typeface="Arial"/>
                <a:ea typeface="微软雅黑"/>
              </a:rPr>
              <a:t>MVP V1.0 · 2026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960120"/>
            <a:ext cx="7315200" cy="9525"/>
          </a:xfrm>
          <a:prstGeom prst="rect">
            <a:avLst/>
          </a:prstGeom>
          <a:solidFill>
            <a:srgbClr val="2E537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2103120"/>
            <a:ext cx="7315200" cy="1463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lnSpc>
                <a:spcPct val="128000"/>
              </a:lnSpc>
            </a:pPr>
            <a:r>
              <a:rPr sz="3300" b="1" i="0">
                <a:solidFill>
                  <a:srgbClr val="FFFFFF"/>
                </a:solidFill>
                <a:latin typeface="Arial"/>
                <a:ea typeface="微软雅黑"/>
              </a:rPr>
              <a:t>账可以慢慢理，</a:t>
            </a:r>
            <a:r>
              <a:rPr sz="3300" b="1" i="0">
                <a:solidFill>
                  <a:srgbClr val="FFFFFF"/>
                </a:solidFill>
                <a:latin typeface="Arial"/>
                <a:ea typeface="微软雅黑"/>
              </a:rPr>
              <a:t>话要当时就说。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3703320"/>
            <a:ext cx="73152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200" b="0" i="0" spc="50">
                <a:solidFill>
                  <a:srgbClr val="93A9BC"/>
                </a:solidFill>
                <a:latin typeface="Arial"/>
                <a:ea typeface="微软雅黑"/>
              </a:rPr>
              <a:t>Log it the moment you say it.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4572000"/>
            <a:ext cx="502920" cy="64008"/>
          </a:xfrm>
          <a:prstGeom prst="rect">
            <a:avLst/>
          </a:prstGeom>
          <a:solidFill>
            <a:srgbClr val="F26B2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457200" y="4846320"/>
            <a:ext cx="1600200" cy="16002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1143000" y="4846320"/>
            <a:ext cx="70104" cy="70104"/>
          </a:xfrm>
          <a:prstGeom prst="rect">
            <a:avLst/>
          </a:prstGeom>
          <a:solidFill>
            <a:srgbClr val="0C23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1371600" y="4846320"/>
            <a:ext cx="70104" cy="70104"/>
          </a:xfrm>
          <a:prstGeom prst="rect">
            <a:avLst/>
          </a:prstGeom>
          <a:solidFill>
            <a:srgbClr val="0C23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1066799" y="4922520"/>
            <a:ext cx="70104" cy="70104"/>
          </a:xfrm>
          <a:prstGeom prst="rect">
            <a:avLst/>
          </a:prstGeom>
          <a:solidFill>
            <a:srgbClr val="0C23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1371600" y="4922520"/>
            <a:ext cx="70104" cy="70104"/>
          </a:xfrm>
          <a:prstGeom prst="rect">
            <a:avLst/>
          </a:prstGeom>
          <a:solidFill>
            <a:srgbClr val="0C23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1219200" y="4998720"/>
            <a:ext cx="70104" cy="70104"/>
          </a:xfrm>
          <a:prstGeom prst="rect">
            <a:avLst/>
          </a:prstGeom>
          <a:solidFill>
            <a:srgbClr val="0C23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1295399" y="4998720"/>
            <a:ext cx="70104" cy="70104"/>
          </a:xfrm>
          <a:prstGeom prst="rect">
            <a:avLst/>
          </a:prstGeom>
          <a:solidFill>
            <a:srgbClr val="0C23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1371600" y="4998720"/>
            <a:ext cx="70104" cy="70104"/>
          </a:xfrm>
          <a:prstGeom prst="rect">
            <a:avLst/>
          </a:prstGeom>
          <a:solidFill>
            <a:srgbClr val="0C23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1066799" y="5074920"/>
            <a:ext cx="70104" cy="70104"/>
          </a:xfrm>
          <a:prstGeom prst="rect">
            <a:avLst/>
          </a:prstGeom>
          <a:solidFill>
            <a:srgbClr val="0C23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990599" y="5227320"/>
            <a:ext cx="70104" cy="70104"/>
          </a:xfrm>
          <a:prstGeom prst="rect">
            <a:avLst/>
          </a:prstGeom>
          <a:solidFill>
            <a:srgbClr val="0C23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1219200" y="5227320"/>
            <a:ext cx="70104" cy="70104"/>
          </a:xfrm>
          <a:prstGeom prst="rect">
            <a:avLst/>
          </a:prstGeom>
          <a:solidFill>
            <a:srgbClr val="0C23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1447800" y="5227320"/>
            <a:ext cx="70104" cy="70104"/>
          </a:xfrm>
          <a:prstGeom prst="rect">
            <a:avLst/>
          </a:prstGeom>
          <a:solidFill>
            <a:srgbClr val="0C23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990599" y="5303520"/>
            <a:ext cx="70104" cy="70104"/>
          </a:xfrm>
          <a:prstGeom prst="rect">
            <a:avLst/>
          </a:prstGeom>
          <a:solidFill>
            <a:srgbClr val="0C23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1295399" y="5303520"/>
            <a:ext cx="70104" cy="70104"/>
          </a:xfrm>
          <a:prstGeom prst="rect">
            <a:avLst/>
          </a:prstGeom>
          <a:solidFill>
            <a:srgbClr val="0C23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838200" y="5379720"/>
            <a:ext cx="70104" cy="70104"/>
          </a:xfrm>
          <a:prstGeom prst="rect">
            <a:avLst/>
          </a:prstGeom>
          <a:solidFill>
            <a:srgbClr val="0C23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914400" y="5379720"/>
            <a:ext cx="70104" cy="70104"/>
          </a:xfrm>
          <a:prstGeom prst="rect">
            <a:avLst/>
          </a:prstGeom>
          <a:solidFill>
            <a:srgbClr val="0C23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990599" y="5379720"/>
            <a:ext cx="70104" cy="70104"/>
          </a:xfrm>
          <a:prstGeom prst="rect">
            <a:avLst/>
          </a:prstGeom>
          <a:solidFill>
            <a:srgbClr val="0C23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1447800" y="5379720"/>
            <a:ext cx="70104" cy="70104"/>
          </a:xfrm>
          <a:prstGeom prst="rect">
            <a:avLst/>
          </a:prstGeom>
          <a:solidFill>
            <a:srgbClr val="0C23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1523999" y="5379720"/>
            <a:ext cx="70104" cy="70104"/>
          </a:xfrm>
          <a:prstGeom prst="rect">
            <a:avLst/>
          </a:prstGeom>
          <a:solidFill>
            <a:srgbClr val="0C23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1981199" y="5379720"/>
            <a:ext cx="70104" cy="70104"/>
          </a:xfrm>
          <a:prstGeom prst="rect">
            <a:avLst/>
          </a:prstGeom>
          <a:solidFill>
            <a:srgbClr val="0C23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533400" y="5455920"/>
            <a:ext cx="70104" cy="70104"/>
          </a:xfrm>
          <a:prstGeom prst="rect">
            <a:avLst/>
          </a:prstGeom>
          <a:solidFill>
            <a:srgbClr val="0C23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685800" y="5455920"/>
            <a:ext cx="70104" cy="70104"/>
          </a:xfrm>
          <a:prstGeom prst="rect">
            <a:avLst/>
          </a:prstGeom>
          <a:solidFill>
            <a:srgbClr val="0C23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1219200" y="5455920"/>
            <a:ext cx="70104" cy="70104"/>
          </a:xfrm>
          <a:prstGeom prst="rect">
            <a:avLst/>
          </a:prstGeom>
          <a:solidFill>
            <a:srgbClr val="0C23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1371600" y="5455920"/>
            <a:ext cx="70104" cy="70104"/>
          </a:xfrm>
          <a:prstGeom prst="rect">
            <a:avLst/>
          </a:prstGeom>
          <a:solidFill>
            <a:srgbClr val="0C23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1523999" y="5455920"/>
            <a:ext cx="70104" cy="70104"/>
          </a:xfrm>
          <a:prstGeom prst="rect">
            <a:avLst/>
          </a:prstGeom>
          <a:solidFill>
            <a:srgbClr val="0C23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1676400" y="5455920"/>
            <a:ext cx="70104" cy="70104"/>
          </a:xfrm>
          <a:prstGeom prst="rect">
            <a:avLst/>
          </a:prstGeom>
          <a:solidFill>
            <a:srgbClr val="0C23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ectangle 33"/>
          <p:cNvSpPr/>
          <p:nvPr/>
        </p:nvSpPr>
        <p:spPr>
          <a:xfrm>
            <a:off x="1828800" y="5455920"/>
            <a:ext cx="70104" cy="70104"/>
          </a:xfrm>
          <a:prstGeom prst="rect">
            <a:avLst/>
          </a:prstGeom>
          <a:solidFill>
            <a:srgbClr val="0C23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ectangle 34"/>
          <p:cNvSpPr/>
          <p:nvPr/>
        </p:nvSpPr>
        <p:spPr>
          <a:xfrm>
            <a:off x="457200" y="5532120"/>
            <a:ext cx="70104" cy="70104"/>
          </a:xfrm>
          <a:prstGeom prst="rect">
            <a:avLst/>
          </a:prstGeom>
          <a:solidFill>
            <a:srgbClr val="0C23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ectangle 35"/>
          <p:cNvSpPr/>
          <p:nvPr/>
        </p:nvSpPr>
        <p:spPr>
          <a:xfrm>
            <a:off x="1295399" y="5532120"/>
            <a:ext cx="70104" cy="70104"/>
          </a:xfrm>
          <a:prstGeom prst="rect">
            <a:avLst/>
          </a:prstGeom>
          <a:solidFill>
            <a:srgbClr val="0C23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ectangle 36"/>
          <p:cNvSpPr/>
          <p:nvPr/>
        </p:nvSpPr>
        <p:spPr>
          <a:xfrm>
            <a:off x="1371600" y="5532120"/>
            <a:ext cx="70104" cy="70104"/>
          </a:xfrm>
          <a:prstGeom prst="rect">
            <a:avLst/>
          </a:prstGeom>
          <a:solidFill>
            <a:srgbClr val="0C23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Rectangle 37"/>
          <p:cNvSpPr/>
          <p:nvPr/>
        </p:nvSpPr>
        <p:spPr>
          <a:xfrm>
            <a:off x="1447800" y="5532120"/>
            <a:ext cx="70104" cy="70104"/>
          </a:xfrm>
          <a:prstGeom prst="rect">
            <a:avLst/>
          </a:prstGeom>
          <a:solidFill>
            <a:srgbClr val="0C23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Rectangle 38"/>
          <p:cNvSpPr/>
          <p:nvPr/>
        </p:nvSpPr>
        <p:spPr>
          <a:xfrm>
            <a:off x="1523999" y="5532120"/>
            <a:ext cx="70104" cy="70104"/>
          </a:xfrm>
          <a:prstGeom prst="rect">
            <a:avLst/>
          </a:prstGeom>
          <a:solidFill>
            <a:srgbClr val="0C23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Rectangle 39"/>
          <p:cNvSpPr/>
          <p:nvPr/>
        </p:nvSpPr>
        <p:spPr>
          <a:xfrm>
            <a:off x="1600200" y="5532120"/>
            <a:ext cx="70104" cy="70104"/>
          </a:xfrm>
          <a:prstGeom prst="rect">
            <a:avLst/>
          </a:prstGeom>
          <a:solidFill>
            <a:srgbClr val="0C23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Rectangle 40"/>
          <p:cNvSpPr/>
          <p:nvPr/>
        </p:nvSpPr>
        <p:spPr>
          <a:xfrm>
            <a:off x="609600" y="5608320"/>
            <a:ext cx="70104" cy="70104"/>
          </a:xfrm>
          <a:prstGeom prst="rect">
            <a:avLst/>
          </a:prstGeom>
          <a:solidFill>
            <a:srgbClr val="0C23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Rectangle 41"/>
          <p:cNvSpPr/>
          <p:nvPr/>
        </p:nvSpPr>
        <p:spPr>
          <a:xfrm>
            <a:off x="838200" y="5608320"/>
            <a:ext cx="70104" cy="70104"/>
          </a:xfrm>
          <a:prstGeom prst="rect">
            <a:avLst/>
          </a:prstGeom>
          <a:solidFill>
            <a:srgbClr val="0C23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Rectangle 42"/>
          <p:cNvSpPr/>
          <p:nvPr/>
        </p:nvSpPr>
        <p:spPr>
          <a:xfrm>
            <a:off x="1066799" y="5608320"/>
            <a:ext cx="70104" cy="70104"/>
          </a:xfrm>
          <a:prstGeom prst="rect">
            <a:avLst/>
          </a:prstGeom>
          <a:solidFill>
            <a:srgbClr val="0C23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Rectangle 43"/>
          <p:cNvSpPr/>
          <p:nvPr/>
        </p:nvSpPr>
        <p:spPr>
          <a:xfrm>
            <a:off x="1295399" y="5608320"/>
            <a:ext cx="70104" cy="70104"/>
          </a:xfrm>
          <a:prstGeom prst="rect">
            <a:avLst/>
          </a:prstGeom>
          <a:solidFill>
            <a:srgbClr val="0C23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Rectangle 44"/>
          <p:cNvSpPr/>
          <p:nvPr/>
        </p:nvSpPr>
        <p:spPr>
          <a:xfrm>
            <a:off x="1523999" y="5608320"/>
            <a:ext cx="70104" cy="70104"/>
          </a:xfrm>
          <a:prstGeom prst="rect">
            <a:avLst/>
          </a:prstGeom>
          <a:solidFill>
            <a:srgbClr val="0C23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Rectangle 45"/>
          <p:cNvSpPr/>
          <p:nvPr/>
        </p:nvSpPr>
        <p:spPr>
          <a:xfrm>
            <a:off x="1752599" y="5608320"/>
            <a:ext cx="70104" cy="70104"/>
          </a:xfrm>
          <a:prstGeom prst="rect">
            <a:avLst/>
          </a:prstGeom>
          <a:solidFill>
            <a:srgbClr val="0C23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Rectangle 46"/>
          <p:cNvSpPr/>
          <p:nvPr/>
        </p:nvSpPr>
        <p:spPr>
          <a:xfrm>
            <a:off x="1981199" y="5608320"/>
            <a:ext cx="70104" cy="70104"/>
          </a:xfrm>
          <a:prstGeom prst="rect">
            <a:avLst/>
          </a:prstGeom>
          <a:solidFill>
            <a:srgbClr val="0C23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Rectangle 47"/>
          <p:cNvSpPr/>
          <p:nvPr/>
        </p:nvSpPr>
        <p:spPr>
          <a:xfrm>
            <a:off x="609600" y="5684520"/>
            <a:ext cx="70104" cy="70104"/>
          </a:xfrm>
          <a:prstGeom prst="rect">
            <a:avLst/>
          </a:prstGeom>
          <a:solidFill>
            <a:srgbClr val="0C23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Rectangle 48"/>
          <p:cNvSpPr/>
          <p:nvPr/>
        </p:nvSpPr>
        <p:spPr>
          <a:xfrm>
            <a:off x="914400" y="5684520"/>
            <a:ext cx="70104" cy="70104"/>
          </a:xfrm>
          <a:prstGeom prst="rect">
            <a:avLst/>
          </a:prstGeom>
          <a:solidFill>
            <a:srgbClr val="0C23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Rectangle 49"/>
          <p:cNvSpPr/>
          <p:nvPr/>
        </p:nvSpPr>
        <p:spPr>
          <a:xfrm>
            <a:off x="1143000" y="5684520"/>
            <a:ext cx="70104" cy="70104"/>
          </a:xfrm>
          <a:prstGeom prst="rect">
            <a:avLst/>
          </a:prstGeom>
          <a:solidFill>
            <a:srgbClr val="0C23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Rectangle 50"/>
          <p:cNvSpPr/>
          <p:nvPr/>
        </p:nvSpPr>
        <p:spPr>
          <a:xfrm>
            <a:off x="1219200" y="5684520"/>
            <a:ext cx="70104" cy="70104"/>
          </a:xfrm>
          <a:prstGeom prst="rect">
            <a:avLst/>
          </a:prstGeom>
          <a:solidFill>
            <a:srgbClr val="0C23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Rectangle 51"/>
          <p:cNvSpPr/>
          <p:nvPr/>
        </p:nvSpPr>
        <p:spPr>
          <a:xfrm>
            <a:off x="1447800" y="5684520"/>
            <a:ext cx="70104" cy="70104"/>
          </a:xfrm>
          <a:prstGeom prst="rect">
            <a:avLst/>
          </a:prstGeom>
          <a:solidFill>
            <a:srgbClr val="0C23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Rectangle 52"/>
          <p:cNvSpPr/>
          <p:nvPr/>
        </p:nvSpPr>
        <p:spPr>
          <a:xfrm>
            <a:off x="1752599" y="5684520"/>
            <a:ext cx="70104" cy="70104"/>
          </a:xfrm>
          <a:prstGeom prst="rect">
            <a:avLst/>
          </a:prstGeom>
          <a:solidFill>
            <a:srgbClr val="0C23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Rectangle 53"/>
          <p:cNvSpPr/>
          <p:nvPr/>
        </p:nvSpPr>
        <p:spPr>
          <a:xfrm>
            <a:off x="457200" y="5760720"/>
            <a:ext cx="70104" cy="70104"/>
          </a:xfrm>
          <a:prstGeom prst="rect">
            <a:avLst/>
          </a:prstGeom>
          <a:solidFill>
            <a:srgbClr val="0C23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Rectangle 54"/>
          <p:cNvSpPr/>
          <p:nvPr/>
        </p:nvSpPr>
        <p:spPr>
          <a:xfrm>
            <a:off x="533400" y="5760720"/>
            <a:ext cx="70104" cy="70104"/>
          </a:xfrm>
          <a:prstGeom prst="rect">
            <a:avLst/>
          </a:prstGeom>
          <a:solidFill>
            <a:srgbClr val="0C23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Rectangle 55"/>
          <p:cNvSpPr/>
          <p:nvPr/>
        </p:nvSpPr>
        <p:spPr>
          <a:xfrm>
            <a:off x="609600" y="5760720"/>
            <a:ext cx="70104" cy="70104"/>
          </a:xfrm>
          <a:prstGeom prst="rect">
            <a:avLst/>
          </a:prstGeom>
          <a:solidFill>
            <a:srgbClr val="0C23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Rectangle 56"/>
          <p:cNvSpPr/>
          <p:nvPr/>
        </p:nvSpPr>
        <p:spPr>
          <a:xfrm>
            <a:off x="1066799" y="5760720"/>
            <a:ext cx="70104" cy="70104"/>
          </a:xfrm>
          <a:prstGeom prst="rect">
            <a:avLst/>
          </a:prstGeom>
          <a:solidFill>
            <a:srgbClr val="0C23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Rectangle 57"/>
          <p:cNvSpPr/>
          <p:nvPr/>
        </p:nvSpPr>
        <p:spPr>
          <a:xfrm>
            <a:off x="1143000" y="5760720"/>
            <a:ext cx="70104" cy="70104"/>
          </a:xfrm>
          <a:prstGeom prst="rect">
            <a:avLst/>
          </a:prstGeom>
          <a:solidFill>
            <a:srgbClr val="0C23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Rectangle 58"/>
          <p:cNvSpPr/>
          <p:nvPr/>
        </p:nvSpPr>
        <p:spPr>
          <a:xfrm>
            <a:off x="1600200" y="5760720"/>
            <a:ext cx="70104" cy="70104"/>
          </a:xfrm>
          <a:prstGeom prst="rect">
            <a:avLst/>
          </a:prstGeom>
          <a:solidFill>
            <a:srgbClr val="0C23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Rectangle 59"/>
          <p:cNvSpPr/>
          <p:nvPr/>
        </p:nvSpPr>
        <p:spPr>
          <a:xfrm>
            <a:off x="1676400" y="5760720"/>
            <a:ext cx="70104" cy="70104"/>
          </a:xfrm>
          <a:prstGeom prst="rect">
            <a:avLst/>
          </a:prstGeom>
          <a:solidFill>
            <a:srgbClr val="0C23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Rectangle 60"/>
          <p:cNvSpPr/>
          <p:nvPr/>
        </p:nvSpPr>
        <p:spPr>
          <a:xfrm>
            <a:off x="1752599" y="5760720"/>
            <a:ext cx="70104" cy="70104"/>
          </a:xfrm>
          <a:prstGeom prst="rect">
            <a:avLst/>
          </a:prstGeom>
          <a:solidFill>
            <a:srgbClr val="0C23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Rectangle 61"/>
          <p:cNvSpPr/>
          <p:nvPr/>
        </p:nvSpPr>
        <p:spPr>
          <a:xfrm>
            <a:off x="838200" y="5836920"/>
            <a:ext cx="70104" cy="70104"/>
          </a:xfrm>
          <a:prstGeom prst="rect">
            <a:avLst/>
          </a:prstGeom>
          <a:solidFill>
            <a:srgbClr val="0C23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Rectangle 62"/>
          <p:cNvSpPr/>
          <p:nvPr/>
        </p:nvSpPr>
        <p:spPr>
          <a:xfrm>
            <a:off x="990599" y="5836920"/>
            <a:ext cx="70104" cy="70104"/>
          </a:xfrm>
          <a:prstGeom prst="rect">
            <a:avLst/>
          </a:prstGeom>
          <a:solidFill>
            <a:srgbClr val="0C23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" name="Rectangle 63"/>
          <p:cNvSpPr/>
          <p:nvPr/>
        </p:nvSpPr>
        <p:spPr>
          <a:xfrm>
            <a:off x="1143000" y="5836920"/>
            <a:ext cx="70104" cy="70104"/>
          </a:xfrm>
          <a:prstGeom prst="rect">
            <a:avLst/>
          </a:prstGeom>
          <a:solidFill>
            <a:srgbClr val="0C23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" name="Rectangle 64"/>
          <p:cNvSpPr/>
          <p:nvPr/>
        </p:nvSpPr>
        <p:spPr>
          <a:xfrm>
            <a:off x="1295399" y="5836920"/>
            <a:ext cx="70104" cy="70104"/>
          </a:xfrm>
          <a:prstGeom prst="rect">
            <a:avLst/>
          </a:prstGeom>
          <a:solidFill>
            <a:srgbClr val="0C23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" name="Rectangle 65"/>
          <p:cNvSpPr/>
          <p:nvPr/>
        </p:nvSpPr>
        <p:spPr>
          <a:xfrm>
            <a:off x="1447800" y="5836920"/>
            <a:ext cx="70104" cy="70104"/>
          </a:xfrm>
          <a:prstGeom prst="rect">
            <a:avLst/>
          </a:prstGeom>
          <a:solidFill>
            <a:srgbClr val="0C23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" name="Rectangle 66"/>
          <p:cNvSpPr/>
          <p:nvPr/>
        </p:nvSpPr>
        <p:spPr>
          <a:xfrm>
            <a:off x="1981199" y="5836920"/>
            <a:ext cx="70104" cy="70104"/>
          </a:xfrm>
          <a:prstGeom prst="rect">
            <a:avLst/>
          </a:prstGeom>
          <a:solidFill>
            <a:srgbClr val="0C23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8" name="Rectangle 67"/>
          <p:cNvSpPr/>
          <p:nvPr/>
        </p:nvSpPr>
        <p:spPr>
          <a:xfrm>
            <a:off x="990599" y="5913120"/>
            <a:ext cx="70104" cy="70104"/>
          </a:xfrm>
          <a:prstGeom prst="rect">
            <a:avLst/>
          </a:prstGeom>
          <a:solidFill>
            <a:srgbClr val="0C23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" name="Rectangle 68"/>
          <p:cNvSpPr/>
          <p:nvPr/>
        </p:nvSpPr>
        <p:spPr>
          <a:xfrm>
            <a:off x="1066799" y="5913120"/>
            <a:ext cx="70104" cy="70104"/>
          </a:xfrm>
          <a:prstGeom prst="rect">
            <a:avLst/>
          </a:prstGeom>
          <a:solidFill>
            <a:srgbClr val="0C23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0" name="Rectangle 69"/>
          <p:cNvSpPr/>
          <p:nvPr/>
        </p:nvSpPr>
        <p:spPr>
          <a:xfrm>
            <a:off x="1143000" y="5913120"/>
            <a:ext cx="70104" cy="70104"/>
          </a:xfrm>
          <a:prstGeom prst="rect">
            <a:avLst/>
          </a:prstGeom>
          <a:solidFill>
            <a:srgbClr val="0C23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1" name="Rectangle 70"/>
          <p:cNvSpPr/>
          <p:nvPr/>
        </p:nvSpPr>
        <p:spPr>
          <a:xfrm>
            <a:off x="1219200" y="5913120"/>
            <a:ext cx="70104" cy="70104"/>
          </a:xfrm>
          <a:prstGeom prst="rect">
            <a:avLst/>
          </a:prstGeom>
          <a:solidFill>
            <a:srgbClr val="0C23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2" name="Rectangle 71"/>
          <p:cNvSpPr/>
          <p:nvPr/>
        </p:nvSpPr>
        <p:spPr>
          <a:xfrm>
            <a:off x="1143000" y="5989320"/>
            <a:ext cx="70104" cy="70104"/>
          </a:xfrm>
          <a:prstGeom prst="rect">
            <a:avLst/>
          </a:prstGeom>
          <a:solidFill>
            <a:srgbClr val="0C23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3" name="Rectangle 72"/>
          <p:cNvSpPr/>
          <p:nvPr/>
        </p:nvSpPr>
        <p:spPr>
          <a:xfrm>
            <a:off x="1371600" y="5989320"/>
            <a:ext cx="70104" cy="70104"/>
          </a:xfrm>
          <a:prstGeom prst="rect">
            <a:avLst/>
          </a:prstGeom>
          <a:solidFill>
            <a:srgbClr val="0C23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4" name="Rectangle 73"/>
          <p:cNvSpPr/>
          <p:nvPr/>
        </p:nvSpPr>
        <p:spPr>
          <a:xfrm>
            <a:off x="1600200" y="5989320"/>
            <a:ext cx="70104" cy="70104"/>
          </a:xfrm>
          <a:prstGeom prst="rect">
            <a:avLst/>
          </a:prstGeom>
          <a:solidFill>
            <a:srgbClr val="0C23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5" name="Rectangle 74"/>
          <p:cNvSpPr/>
          <p:nvPr/>
        </p:nvSpPr>
        <p:spPr>
          <a:xfrm>
            <a:off x="1828800" y="5989320"/>
            <a:ext cx="70104" cy="70104"/>
          </a:xfrm>
          <a:prstGeom prst="rect">
            <a:avLst/>
          </a:prstGeom>
          <a:solidFill>
            <a:srgbClr val="0C23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6" name="Rectangle 75"/>
          <p:cNvSpPr/>
          <p:nvPr/>
        </p:nvSpPr>
        <p:spPr>
          <a:xfrm>
            <a:off x="1066799" y="6065520"/>
            <a:ext cx="70104" cy="70104"/>
          </a:xfrm>
          <a:prstGeom prst="rect">
            <a:avLst/>
          </a:prstGeom>
          <a:solidFill>
            <a:srgbClr val="0C23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7" name="Rectangle 76"/>
          <p:cNvSpPr/>
          <p:nvPr/>
        </p:nvSpPr>
        <p:spPr>
          <a:xfrm>
            <a:off x="1371600" y="6065520"/>
            <a:ext cx="70104" cy="70104"/>
          </a:xfrm>
          <a:prstGeom prst="rect">
            <a:avLst/>
          </a:prstGeom>
          <a:solidFill>
            <a:srgbClr val="0C23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8" name="Rectangle 77"/>
          <p:cNvSpPr/>
          <p:nvPr/>
        </p:nvSpPr>
        <p:spPr>
          <a:xfrm>
            <a:off x="1676400" y="6065520"/>
            <a:ext cx="70104" cy="70104"/>
          </a:xfrm>
          <a:prstGeom prst="rect">
            <a:avLst/>
          </a:prstGeom>
          <a:solidFill>
            <a:srgbClr val="0C23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9" name="Rectangle 78"/>
          <p:cNvSpPr/>
          <p:nvPr/>
        </p:nvSpPr>
        <p:spPr>
          <a:xfrm>
            <a:off x="1904999" y="6065520"/>
            <a:ext cx="70104" cy="70104"/>
          </a:xfrm>
          <a:prstGeom prst="rect">
            <a:avLst/>
          </a:prstGeom>
          <a:solidFill>
            <a:srgbClr val="0C23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0" name="Rectangle 79"/>
          <p:cNvSpPr/>
          <p:nvPr/>
        </p:nvSpPr>
        <p:spPr>
          <a:xfrm>
            <a:off x="1981199" y="6065520"/>
            <a:ext cx="70104" cy="70104"/>
          </a:xfrm>
          <a:prstGeom prst="rect">
            <a:avLst/>
          </a:prstGeom>
          <a:solidFill>
            <a:srgbClr val="0C23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1" name="Rectangle 80"/>
          <p:cNvSpPr/>
          <p:nvPr/>
        </p:nvSpPr>
        <p:spPr>
          <a:xfrm>
            <a:off x="1219200" y="6141720"/>
            <a:ext cx="70104" cy="70104"/>
          </a:xfrm>
          <a:prstGeom prst="rect">
            <a:avLst/>
          </a:prstGeom>
          <a:solidFill>
            <a:srgbClr val="0C23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2" name="Rectangle 81"/>
          <p:cNvSpPr/>
          <p:nvPr/>
        </p:nvSpPr>
        <p:spPr>
          <a:xfrm>
            <a:off x="1295399" y="6141720"/>
            <a:ext cx="70104" cy="70104"/>
          </a:xfrm>
          <a:prstGeom prst="rect">
            <a:avLst/>
          </a:prstGeom>
          <a:solidFill>
            <a:srgbClr val="0C23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3" name="Rectangle 82"/>
          <p:cNvSpPr/>
          <p:nvPr/>
        </p:nvSpPr>
        <p:spPr>
          <a:xfrm>
            <a:off x="1371600" y="6141720"/>
            <a:ext cx="70104" cy="70104"/>
          </a:xfrm>
          <a:prstGeom prst="rect">
            <a:avLst/>
          </a:prstGeom>
          <a:solidFill>
            <a:srgbClr val="0C23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4" name="Rectangle 83"/>
          <p:cNvSpPr/>
          <p:nvPr/>
        </p:nvSpPr>
        <p:spPr>
          <a:xfrm>
            <a:off x="1828800" y="6141720"/>
            <a:ext cx="70104" cy="70104"/>
          </a:xfrm>
          <a:prstGeom prst="rect">
            <a:avLst/>
          </a:prstGeom>
          <a:solidFill>
            <a:srgbClr val="0C23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5" name="Rectangle 84"/>
          <p:cNvSpPr/>
          <p:nvPr/>
        </p:nvSpPr>
        <p:spPr>
          <a:xfrm>
            <a:off x="1904999" y="6141720"/>
            <a:ext cx="70104" cy="70104"/>
          </a:xfrm>
          <a:prstGeom prst="rect">
            <a:avLst/>
          </a:prstGeom>
          <a:solidFill>
            <a:srgbClr val="0C23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6" name="Rectangle 85"/>
          <p:cNvSpPr/>
          <p:nvPr/>
        </p:nvSpPr>
        <p:spPr>
          <a:xfrm>
            <a:off x="1066799" y="6217920"/>
            <a:ext cx="70104" cy="70104"/>
          </a:xfrm>
          <a:prstGeom prst="rect">
            <a:avLst/>
          </a:prstGeom>
          <a:solidFill>
            <a:srgbClr val="0C23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7" name="Rectangle 86"/>
          <p:cNvSpPr/>
          <p:nvPr/>
        </p:nvSpPr>
        <p:spPr>
          <a:xfrm>
            <a:off x="1600200" y="6217920"/>
            <a:ext cx="70104" cy="70104"/>
          </a:xfrm>
          <a:prstGeom prst="rect">
            <a:avLst/>
          </a:prstGeom>
          <a:solidFill>
            <a:srgbClr val="0C23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8" name="Rectangle 87"/>
          <p:cNvSpPr/>
          <p:nvPr/>
        </p:nvSpPr>
        <p:spPr>
          <a:xfrm>
            <a:off x="1752599" y="6217920"/>
            <a:ext cx="70104" cy="70104"/>
          </a:xfrm>
          <a:prstGeom prst="rect">
            <a:avLst/>
          </a:prstGeom>
          <a:solidFill>
            <a:srgbClr val="0C23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9" name="Rectangle 88"/>
          <p:cNvSpPr/>
          <p:nvPr/>
        </p:nvSpPr>
        <p:spPr>
          <a:xfrm>
            <a:off x="1904999" y="6217920"/>
            <a:ext cx="70104" cy="70104"/>
          </a:xfrm>
          <a:prstGeom prst="rect">
            <a:avLst/>
          </a:prstGeom>
          <a:solidFill>
            <a:srgbClr val="0C23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0" name="Rectangle 89"/>
          <p:cNvSpPr/>
          <p:nvPr/>
        </p:nvSpPr>
        <p:spPr>
          <a:xfrm>
            <a:off x="1676400" y="6294120"/>
            <a:ext cx="70104" cy="70104"/>
          </a:xfrm>
          <a:prstGeom prst="rect">
            <a:avLst/>
          </a:prstGeom>
          <a:solidFill>
            <a:srgbClr val="0C23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1" name="Rectangle 90"/>
          <p:cNvSpPr/>
          <p:nvPr/>
        </p:nvSpPr>
        <p:spPr>
          <a:xfrm>
            <a:off x="1752599" y="6294120"/>
            <a:ext cx="70104" cy="70104"/>
          </a:xfrm>
          <a:prstGeom prst="rect">
            <a:avLst/>
          </a:prstGeom>
          <a:solidFill>
            <a:srgbClr val="0C23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2" name="Rectangle 91"/>
          <p:cNvSpPr/>
          <p:nvPr/>
        </p:nvSpPr>
        <p:spPr>
          <a:xfrm>
            <a:off x="1828800" y="6294120"/>
            <a:ext cx="70104" cy="70104"/>
          </a:xfrm>
          <a:prstGeom prst="rect">
            <a:avLst/>
          </a:prstGeom>
          <a:solidFill>
            <a:srgbClr val="0C23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3" name="Rectangle 92"/>
          <p:cNvSpPr/>
          <p:nvPr/>
        </p:nvSpPr>
        <p:spPr>
          <a:xfrm>
            <a:off x="1904999" y="6294120"/>
            <a:ext cx="70104" cy="70104"/>
          </a:xfrm>
          <a:prstGeom prst="rect">
            <a:avLst/>
          </a:prstGeom>
          <a:solidFill>
            <a:srgbClr val="0C23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4" name="Rectangle 93"/>
          <p:cNvSpPr/>
          <p:nvPr/>
        </p:nvSpPr>
        <p:spPr>
          <a:xfrm>
            <a:off x="1981199" y="6294120"/>
            <a:ext cx="70104" cy="70104"/>
          </a:xfrm>
          <a:prstGeom prst="rect">
            <a:avLst/>
          </a:prstGeom>
          <a:solidFill>
            <a:srgbClr val="0C23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5" name="Rectangle 94"/>
          <p:cNvSpPr/>
          <p:nvPr/>
        </p:nvSpPr>
        <p:spPr>
          <a:xfrm>
            <a:off x="990599" y="6370320"/>
            <a:ext cx="70104" cy="70104"/>
          </a:xfrm>
          <a:prstGeom prst="rect">
            <a:avLst/>
          </a:prstGeom>
          <a:solidFill>
            <a:srgbClr val="0C23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6" name="Rectangle 95"/>
          <p:cNvSpPr/>
          <p:nvPr/>
        </p:nvSpPr>
        <p:spPr>
          <a:xfrm>
            <a:off x="1219200" y="6370320"/>
            <a:ext cx="70104" cy="70104"/>
          </a:xfrm>
          <a:prstGeom prst="rect">
            <a:avLst/>
          </a:prstGeom>
          <a:solidFill>
            <a:srgbClr val="0C23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7" name="Rectangle 96"/>
          <p:cNvSpPr/>
          <p:nvPr/>
        </p:nvSpPr>
        <p:spPr>
          <a:xfrm>
            <a:off x="1447800" y="6370320"/>
            <a:ext cx="70104" cy="70104"/>
          </a:xfrm>
          <a:prstGeom prst="rect">
            <a:avLst/>
          </a:prstGeom>
          <a:solidFill>
            <a:srgbClr val="0C23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8" name="Rectangle 97"/>
          <p:cNvSpPr/>
          <p:nvPr/>
        </p:nvSpPr>
        <p:spPr>
          <a:xfrm>
            <a:off x="1676400" y="6370320"/>
            <a:ext cx="70104" cy="70104"/>
          </a:xfrm>
          <a:prstGeom prst="rect">
            <a:avLst/>
          </a:prstGeom>
          <a:solidFill>
            <a:srgbClr val="0C23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9" name="Rectangle 98"/>
          <p:cNvSpPr/>
          <p:nvPr/>
        </p:nvSpPr>
        <p:spPr>
          <a:xfrm>
            <a:off x="1904999" y="6370320"/>
            <a:ext cx="70104" cy="70104"/>
          </a:xfrm>
          <a:prstGeom prst="rect">
            <a:avLst/>
          </a:prstGeom>
          <a:solidFill>
            <a:srgbClr val="0C23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0" name="Rectangle 99"/>
          <p:cNvSpPr/>
          <p:nvPr/>
        </p:nvSpPr>
        <p:spPr>
          <a:xfrm>
            <a:off x="495299" y="4884420"/>
            <a:ext cx="457200" cy="457200"/>
          </a:xfrm>
          <a:prstGeom prst="rect">
            <a:avLst/>
          </a:prstGeom>
          <a:solidFill>
            <a:srgbClr val="0C23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1" name="Rectangle 100"/>
          <p:cNvSpPr/>
          <p:nvPr/>
        </p:nvSpPr>
        <p:spPr>
          <a:xfrm>
            <a:off x="571500" y="4960620"/>
            <a:ext cx="304800" cy="3048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2" name="Rectangle 101"/>
          <p:cNvSpPr/>
          <p:nvPr/>
        </p:nvSpPr>
        <p:spPr>
          <a:xfrm>
            <a:off x="647699" y="5036820"/>
            <a:ext cx="152400" cy="152400"/>
          </a:xfrm>
          <a:prstGeom prst="rect">
            <a:avLst/>
          </a:prstGeom>
          <a:solidFill>
            <a:srgbClr val="0C23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3" name="Rectangle 102"/>
          <p:cNvSpPr/>
          <p:nvPr/>
        </p:nvSpPr>
        <p:spPr>
          <a:xfrm>
            <a:off x="1562100" y="4884420"/>
            <a:ext cx="457200" cy="457200"/>
          </a:xfrm>
          <a:prstGeom prst="rect">
            <a:avLst/>
          </a:prstGeom>
          <a:solidFill>
            <a:srgbClr val="0C23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4" name="Rectangle 103"/>
          <p:cNvSpPr/>
          <p:nvPr/>
        </p:nvSpPr>
        <p:spPr>
          <a:xfrm>
            <a:off x="1638299" y="4960620"/>
            <a:ext cx="304800" cy="3048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5" name="Rectangle 104"/>
          <p:cNvSpPr/>
          <p:nvPr/>
        </p:nvSpPr>
        <p:spPr>
          <a:xfrm>
            <a:off x="1714499" y="5036820"/>
            <a:ext cx="152400" cy="152400"/>
          </a:xfrm>
          <a:prstGeom prst="rect">
            <a:avLst/>
          </a:prstGeom>
          <a:solidFill>
            <a:srgbClr val="0C23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6" name="Rectangle 105"/>
          <p:cNvSpPr/>
          <p:nvPr/>
        </p:nvSpPr>
        <p:spPr>
          <a:xfrm>
            <a:off x="495299" y="5951220"/>
            <a:ext cx="457200" cy="457200"/>
          </a:xfrm>
          <a:prstGeom prst="rect">
            <a:avLst/>
          </a:prstGeom>
          <a:solidFill>
            <a:srgbClr val="0C23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7" name="Rectangle 106"/>
          <p:cNvSpPr/>
          <p:nvPr/>
        </p:nvSpPr>
        <p:spPr>
          <a:xfrm>
            <a:off x="571500" y="6027420"/>
            <a:ext cx="304800" cy="3048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8" name="Rectangle 107"/>
          <p:cNvSpPr/>
          <p:nvPr/>
        </p:nvSpPr>
        <p:spPr>
          <a:xfrm>
            <a:off x="647699" y="6103620"/>
            <a:ext cx="152400" cy="152400"/>
          </a:xfrm>
          <a:prstGeom prst="rect">
            <a:avLst/>
          </a:prstGeom>
          <a:solidFill>
            <a:srgbClr val="0C23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9" name="TextBox 108"/>
          <p:cNvSpPr txBox="1"/>
          <p:nvPr/>
        </p:nvSpPr>
        <p:spPr>
          <a:xfrm>
            <a:off x="457200" y="6556248"/>
            <a:ext cx="160020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850" b="0" i="0" spc="200">
                <a:solidFill>
                  <a:srgbClr val="93A9BC"/>
                </a:solidFill>
                <a:latin typeface="Arial"/>
                <a:ea typeface="微软雅黑"/>
              </a:rPr>
              <a:t>YOUR QR</a:t>
            </a:r>
          </a:p>
        </p:txBody>
      </p:sp>
      <p:sp>
        <p:nvSpPr>
          <p:cNvPr id="110" name="TextBox 109"/>
          <p:cNvSpPr txBox="1"/>
          <p:nvPr/>
        </p:nvSpPr>
        <p:spPr>
          <a:xfrm>
            <a:off x="2514600" y="5120640"/>
            <a:ext cx="525780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600" b="1" i="0">
                <a:solidFill>
                  <a:srgbClr val="FFFFFF"/>
                </a:solidFill>
                <a:latin typeface="Arial"/>
                <a:ea typeface="微软雅黑"/>
              </a:rPr>
              <a:t>扫码生成你的第一条语音记账</a:t>
            </a:r>
          </a:p>
        </p:txBody>
      </p:sp>
      <p:sp>
        <p:nvSpPr>
          <p:cNvPr id="111" name="TextBox 110"/>
          <p:cNvSpPr txBox="1"/>
          <p:nvPr/>
        </p:nvSpPr>
        <p:spPr>
          <a:xfrm>
            <a:off x="2514600" y="5550408"/>
            <a:ext cx="52578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950" b="0" i="0" spc="160">
                <a:solidFill>
                  <a:srgbClr val="93A9BC"/>
                </a:solidFill>
                <a:latin typeface="Arial"/>
                <a:ea typeface="微软雅黑"/>
              </a:rPr>
              <a:t>SCAN TO LOG YOUR FIRST LINE</a:t>
            </a:r>
          </a:p>
        </p:txBody>
      </p:sp>
      <p:sp>
        <p:nvSpPr>
          <p:cNvPr id="112" name="TextBox 111"/>
          <p:cNvSpPr txBox="1"/>
          <p:nvPr/>
        </p:nvSpPr>
        <p:spPr>
          <a:xfrm>
            <a:off x="2514600" y="5879592"/>
            <a:ext cx="52578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000" b="0" i="0">
                <a:solidFill>
                  <a:srgbClr val="93A9BC"/>
                </a:solidFill>
                <a:latin typeface="Arial"/>
                <a:ea typeface="微软雅黑"/>
              </a:rPr>
              <a:t>v1.0 已包含：语音入账 · 本地账本 · 周报建议</a:t>
            </a:r>
          </a:p>
        </p:txBody>
      </p:sp>
      <p:sp>
        <p:nvSpPr>
          <p:cNvPr id="113" name="Rectangle 112"/>
          <p:cNvSpPr/>
          <p:nvPr/>
        </p:nvSpPr>
        <p:spPr>
          <a:xfrm>
            <a:off x="457200" y="7406640"/>
            <a:ext cx="7315200" cy="9525"/>
          </a:xfrm>
          <a:prstGeom prst="rect">
            <a:avLst/>
          </a:prstGeom>
          <a:solidFill>
            <a:srgbClr val="2E537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4" name="TextBox 113"/>
          <p:cNvSpPr txBox="1"/>
          <p:nvPr/>
        </p:nvSpPr>
        <p:spPr>
          <a:xfrm>
            <a:off x="457200" y="7571231"/>
            <a:ext cx="73152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300" b="1" i="0">
                <a:solidFill>
                  <a:srgbClr val="FFFFFF"/>
                </a:solidFill>
                <a:latin typeface="Arial"/>
                <a:ea typeface="微软雅黑"/>
              </a:rPr>
              <a:t>一句话入账 × 账本在本地 × 每周一句建议</a:t>
            </a:r>
          </a:p>
        </p:txBody>
      </p:sp>
      <p:sp>
        <p:nvSpPr>
          <p:cNvPr id="115" name="TextBox 114"/>
          <p:cNvSpPr txBox="1"/>
          <p:nvPr/>
        </p:nvSpPr>
        <p:spPr>
          <a:xfrm>
            <a:off x="457200" y="7955279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950" b="0" i="0" spc="60">
                <a:solidFill>
                  <a:srgbClr val="93A9BC"/>
                </a:solidFill>
                <a:latin typeface="Arial"/>
                <a:ea typeface="微软雅黑"/>
              </a:rPr>
              <a:t>One-sentence entry × On-device ledger × Weekly nudge</a:t>
            </a:r>
          </a:p>
        </p:txBody>
      </p:sp>
      <p:sp>
        <p:nvSpPr>
          <p:cNvPr id="116" name="TextBox 115"/>
          <p:cNvSpPr txBox="1"/>
          <p:nvPr/>
        </p:nvSpPr>
        <p:spPr>
          <a:xfrm>
            <a:off x="457200" y="8595360"/>
            <a:ext cx="73152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000" b="0" i="0" spc="300">
                <a:solidFill>
                  <a:srgbClr val="93A9BC"/>
                </a:solidFill>
                <a:latin typeface="Arial"/>
                <a:ea typeface="微软雅黑"/>
              </a:rPr>
              <a:t>SAY IT ONCE · LOGGED FOR GOOD</a:t>
            </a:r>
          </a:p>
        </p:txBody>
      </p:sp>
      <p:sp>
        <p:nvSpPr>
          <p:cNvPr id="117" name="TextBox 116"/>
          <p:cNvSpPr txBox="1"/>
          <p:nvPr/>
        </p:nvSpPr>
        <p:spPr>
          <a:xfrm>
            <a:off x="457200" y="9070848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900" b="0" i="0">
                <a:solidFill>
                  <a:srgbClr val="93A9BC"/>
                </a:solidFill>
                <a:latin typeface="Arial"/>
                <a:ea typeface="微软雅黑"/>
              </a:rPr>
              <a:t>内容对应 TalkTally v1.0 产品文档 · docs/PRD.md</a:t>
            </a:r>
          </a:p>
        </p:txBody>
      </p:sp>
      <p:sp>
        <p:nvSpPr>
          <p:cNvPr id="118" name="Rectangle 117"/>
          <p:cNvSpPr/>
          <p:nvPr/>
        </p:nvSpPr>
        <p:spPr>
          <a:xfrm>
            <a:off x="457200" y="10058400"/>
            <a:ext cx="7315200" cy="9525"/>
          </a:xfrm>
          <a:prstGeom prst="rect">
            <a:avLst/>
          </a:prstGeom>
          <a:solidFill>
            <a:srgbClr val="2E537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9" name="TextBox 118"/>
          <p:cNvSpPr txBox="1"/>
          <p:nvPr/>
        </p:nvSpPr>
        <p:spPr>
          <a:xfrm>
            <a:off x="457200" y="10186416"/>
            <a:ext cx="5486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950" b="0" i="0" spc="100">
                <a:solidFill>
                  <a:srgbClr val="93A9BC"/>
                </a:solidFill>
                <a:latin typeface="Arial"/>
                <a:ea typeface="微软雅黑"/>
              </a:rPr>
              <a:t>[YOUR WEBSITE]　　[YOUR EMAIL]</a:t>
            </a:r>
          </a:p>
        </p:txBody>
      </p:sp>
      <p:sp>
        <p:nvSpPr>
          <p:cNvPr id="120" name="TextBox 119"/>
          <p:cNvSpPr txBox="1"/>
          <p:nvPr/>
        </p:nvSpPr>
        <p:spPr>
          <a:xfrm>
            <a:off x="4114800" y="10186416"/>
            <a:ext cx="3657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850" b="0" i="0" spc="200">
                <a:solidFill>
                  <a:srgbClr val="93A9BC"/>
                </a:solidFill>
                <a:latin typeface="Arial"/>
                <a:ea typeface="微软雅黑"/>
              </a:rPr>
              <a:t>BACK · 04 / 04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TalkTally MVP v1.0 产品手册海报</dc:title>
  <dc:subject/>
  <dc:creator>TalkTally</dc:creator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